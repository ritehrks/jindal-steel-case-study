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ritehrks.github.io/jindal-steel-case-study/website/" TargetMode="External"/><Relationship Id="rId4" Type="http://schemas.openxmlformats.org/officeDocument/2006/relationships/hyperlink" Target="https://ritehrks.github.io/jindal-steel-case-study/appendix.pdf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ritehrks.github.io/jindal-steel-case-study/website/" TargetMode="External"/><Relationship Id="rId3" Type="http://schemas.openxmlformats.org/officeDocument/2006/relationships/hyperlink" Target="https://ritehrks.github.io/jindal-steel-case-study/appendix.pdf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92608" y="91440"/>
            <a:ext cx="9144000" cy="603504"/>
          </a:xfrm>
          <a:prstGeom prst="rect">
            <a:avLst/>
          </a:prstGeom>
          <a:noFill/>
        </p:spPr>
        <p:txBody>
          <a:bodyPr wrap="square" anchor="t" lIns="19050" rIns="19050" tIns="6350" bIns="6350">
            <a:spAutoFit/>
          </a:bodyPr>
          <a:lstStyle/>
          <a:p>
            <a:pPr algn="l">
              <a:lnSpc>
                <a:spcPct val="108000"/>
              </a:lnSpc>
              <a:spcAft>
                <a:spcPts val="100"/>
              </a:spcAft>
            </a:pPr>
            <a:r>
              <a:rPr sz="1450" b="0">
                <a:solidFill>
                  <a:srgbClr val="123F63"/>
                </a:solidFill>
                <a:latin typeface="Segoe UI"/>
              </a:rPr>
              <a:t>Stainless steel's carbon is an </a:t>
            </a:r>
            <a:r>
              <a:rPr sz="1450" b="1">
                <a:solidFill>
                  <a:srgbClr val="123F63"/>
                </a:solidFill>
                <a:latin typeface="Segoe UI"/>
              </a:rPr>
              <a:t>alloy-chain problem</a:t>
            </a:r>
            <a:r>
              <a:rPr sz="1450" b="0">
                <a:solidFill>
                  <a:srgbClr val="123F63"/>
                </a:solidFill>
                <a:latin typeface="Segoe UI"/>
              </a:rPr>
              <a:t> — ferrochrome and nickel drive 60–80% of the footprint,</a:t>
            </a:r>
          </a:p>
          <a:p>
            <a:pPr algn="l">
              <a:lnSpc>
                <a:spcPct val="108000"/>
              </a:lnSpc>
              <a:spcAft>
                <a:spcPts val="100"/>
              </a:spcAft>
            </a:pPr>
            <a:r>
              <a:rPr sz="1450" b="0">
                <a:solidFill>
                  <a:srgbClr val="123F63"/>
                </a:solidFill>
                <a:latin typeface="Segoe UI"/>
              </a:rPr>
              <a:t>and no existing calculator models them. </a:t>
            </a:r>
            <a:r>
              <a:rPr sz="1450" b="1">
                <a:solidFill>
                  <a:srgbClr val="123F63"/>
                </a:solidFill>
                <a:latin typeface="Segoe UI"/>
              </a:rPr>
              <a:t>We built and deployed one that does.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464040" y="146304"/>
            <a:ext cx="2450592" cy="548640"/>
          </a:xfrm>
          <a:prstGeom prst="rect">
            <a:avLst/>
          </a:prstGeom>
          <a:noFill/>
        </p:spPr>
        <p:txBody>
          <a:bodyPr wrap="square" anchor="t" lIns="19050" rIns="19050" tIns="6350" bIns="6350">
            <a:spAutoFit/>
          </a:bodyPr>
          <a:lstStyle/>
          <a:p>
            <a:pPr algn="r">
              <a:lnSpc>
                <a:spcPct val="100000"/>
              </a:lnSpc>
              <a:spcAft>
                <a:spcPts val="150"/>
              </a:spcAft>
            </a:pPr>
            <a:r>
              <a:rPr sz="750" b="0">
                <a:solidFill>
                  <a:srgbClr val="8A94A0"/>
                </a:solidFill>
                <a:latin typeface="Segoe UI"/>
              </a:rPr>
              <a:t>Jindal Stainless · "Spark the Rising Curve"</a:t>
            </a:r>
          </a:p>
          <a:p>
            <a:pPr algn="r">
              <a:lnSpc>
                <a:spcPct val="100000"/>
              </a:lnSpc>
              <a:spcAft>
                <a:spcPts val="150"/>
              </a:spcAft>
            </a:pPr>
            <a:r>
              <a:rPr sz="750" b="0">
                <a:solidFill>
                  <a:srgbClr val="8A94A0"/>
                </a:solidFill>
                <a:latin typeface="Segoe UI"/>
              </a:rPr>
              <a:t>Problem Statement 3 · Round 1 · 11 Sep 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292608" y="731520"/>
            <a:ext cx="11606479" cy="27940"/>
          </a:xfrm>
          <a:prstGeom prst="rect">
            <a:avLst/>
          </a:prstGeom>
          <a:solidFill>
            <a:srgbClr val="12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859536"/>
            <a:ext cx="2697480" cy="182880"/>
          </a:xfrm>
          <a:prstGeom prst="rect">
            <a:avLst/>
          </a:prstGeom>
          <a:noFill/>
        </p:spPr>
        <p:txBody>
          <a:bodyPr wrap="square" anchor="t" lIns="19050" rIns="19050" tIns="6350" bIns="635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B6DB0"/>
                </a:solidFill>
                <a:latin typeface="Segoe UI"/>
              </a:rPr>
              <a:t>WHY EXISTING TOOLS FALL SHORT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51560"/>
            <a:ext cx="2697480" cy="10160"/>
          </a:xfrm>
          <a:prstGeom prst="rect">
            <a:avLst/>
          </a:prstGeom>
          <a:solidFill>
            <a:srgbClr val="E2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2608" y="1133856"/>
            <a:ext cx="2697480" cy="603504"/>
          </a:xfrm>
          <a:prstGeom prst="rect">
            <a:avLst/>
          </a:prstGeom>
          <a:noFill/>
        </p:spPr>
        <p:txBody>
          <a:bodyPr wrap="square" anchor="t" lIns="19050" rIns="19050" tIns="6350" bIns="635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880" b="1">
                <a:solidFill>
                  <a:srgbClr val="123F63"/>
                </a:solidFill>
                <a:latin typeface="Segoe UI"/>
              </a:rPr>
              <a:t>They ignore the alloys. </a:t>
            </a:r>
            <a:r>
              <a:rPr sz="830" b="0">
                <a:solidFill>
                  <a:srgbClr val="5B6570"/>
                </a:solidFill>
                <a:latin typeface="Segoe UI"/>
              </a:rPr>
              <a:t>Odisha ferrochrome runs 5.4–5.9 tCO₂/t (2.5× the global average); NPI carries 60–85 tCO₂/t of contained nickel. Carbon-steel tools model neither.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755648"/>
            <a:ext cx="2697480" cy="603504"/>
          </a:xfrm>
          <a:prstGeom prst="rect">
            <a:avLst/>
          </a:prstGeom>
          <a:noFill/>
        </p:spPr>
        <p:txBody>
          <a:bodyPr wrap="square" anchor="t" lIns="19050" rIns="19050" tIns="6350" bIns="635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880" b="1">
                <a:solidFill>
                  <a:srgbClr val="123F63"/>
                </a:solidFill>
                <a:latin typeface="Segoe UI"/>
              </a:rPr>
              <a:t>They assume Western grids. </a:t>
            </a:r>
            <a:r>
              <a:rPr sz="830" b="0">
                <a:solidFill>
                  <a:srgbClr val="5B6570"/>
                </a:solidFill>
                <a:latin typeface="Segoe UI"/>
              </a:rPr>
              <a:t>Typical tools use 0.2–0.4 t/MWh; India's grid is 0.710 and captive subcritical coal 1.045 t/MWh (CEA v21.0).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2377440"/>
            <a:ext cx="2697480" cy="603504"/>
          </a:xfrm>
          <a:prstGeom prst="rect">
            <a:avLst/>
          </a:prstGeom>
          <a:noFill/>
        </p:spPr>
        <p:txBody>
          <a:bodyPr wrap="square" anchor="t" lIns="19050" rIns="19050" tIns="6350" bIns="635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880" b="1">
                <a:solidFill>
                  <a:srgbClr val="123F63"/>
                </a:solidFill>
                <a:latin typeface="Segoe UI"/>
              </a:rPr>
              <a:t>They allow infeasible answers. </a:t>
            </a:r>
            <a:r>
              <a:rPr sz="830" b="0">
                <a:solidFill>
                  <a:srgbClr val="5B6570"/>
                </a:solidFill>
                <a:latin typeface="Segoe UI"/>
              </a:rPr>
              <a:t>Sliding scrap to 100% ignores Cu/Sn tramp-element limits and India's 23–25% scrap availability; the practical ceiling is ~80%.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2999232"/>
            <a:ext cx="2697480" cy="603504"/>
          </a:xfrm>
          <a:prstGeom prst="rect">
            <a:avLst/>
          </a:prstGeom>
          <a:noFill/>
        </p:spPr>
        <p:txBody>
          <a:bodyPr wrap="square" anchor="t" lIns="19050" rIns="19050" tIns="6350" bIns="635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880" b="1">
                <a:solidFill>
                  <a:srgbClr val="123F63"/>
                </a:solidFill>
                <a:latin typeface="Segoe UI"/>
              </a:rPr>
              <a:t>They ignore the money. </a:t>
            </a:r>
            <a:r>
              <a:rPr sz="830" b="0">
                <a:solidFill>
                  <a:srgbClr val="5B6570"/>
                </a:solidFill>
                <a:latin typeface="Segoe UI"/>
              </a:rPr>
              <a:t>From 2026 the EU prices every imported tonne (CBAM). Default vs verified data is a €370–400/t swing by 2030.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292608" y="3657600"/>
          <a:ext cx="2697480" cy="1415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0432"/>
                <a:gridCol w="640080"/>
                <a:gridCol w="457200"/>
                <a:gridCol w="429768"/>
              </a:tblGrid>
              <a:tr h="235915">
                <a:tc>
                  <a:txBody>
                    <a:bodyPr wrap="square" lIns="50800" rIns="50800" tIns="12700" bIns="12700" anchor="ctr"/>
                    <a:lstStyle/>
                    <a:p>
                      <a:pPr algn="l"/>
                      <a:r>
                        <a:rPr sz="700" b="1">
                          <a:solidFill>
                            <a:srgbClr val="5B6570"/>
                          </a:solidFill>
                          <a:latin typeface="Segoe UI"/>
                        </a:rPr>
                        <a:t/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tc>
                  <a:txBody>
                    <a:bodyPr wrap="square" lIns="50800" rIns="50800" tIns="12700" bIns="12700" anchor="ctr"/>
                    <a:lstStyle/>
                    <a:p>
                      <a:pPr algn="ctr"/>
                      <a:r>
                        <a:rPr sz="700" b="1">
                          <a:solidFill>
                            <a:srgbClr val="5B6570"/>
                          </a:solidFill>
                          <a:latin typeface="Segoe UI"/>
                        </a:rPr>
                        <a:t>Primetals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tc>
                  <a:txBody>
                    <a:bodyPr wrap="square" lIns="50800" rIns="50800" tIns="12700" bIns="12700" anchor="ctr"/>
                    <a:lstStyle/>
                    <a:p>
                      <a:pPr algn="ctr"/>
                      <a:r>
                        <a:rPr sz="700" b="1">
                          <a:solidFill>
                            <a:srgbClr val="5B6570"/>
                          </a:solidFill>
                          <a:latin typeface="Segoe UI"/>
                        </a:rPr>
                        <a:t>SSAB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tc>
                  <a:txBody>
                    <a:bodyPr wrap="square" lIns="50800" rIns="50800" tIns="12700" bIns="12700" anchor="ctr"/>
                    <a:lstStyle/>
                    <a:p>
                      <a:pPr algn="ctr"/>
                      <a:r>
                        <a:rPr sz="700" b="1">
                          <a:solidFill>
                            <a:srgbClr val="5B6570"/>
                          </a:solidFill>
                          <a:latin typeface="Segoe UI"/>
                        </a:rPr>
                        <a:t>Ours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</a:tr>
              <a:tr h="235915">
                <a:tc>
                  <a:txBody>
                    <a:bodyPr wrap="square" lIns="50800" rIns="50800" tIns="12700" bIns="12700" anchor="ctr"/>
                    <a:lstStyle/>
                    <a:p>
                      <a:pPr algn="l"/>
                      <a:r>
                        <a:rPr sz="760" b="0">
                          <a:solidFill>
                            <a:srgbClr val="1F2937"/>
                          </a:solidFill>
                          <a:latin typeface="Segoe UI"/>
                        </a:rPr>
                        <a:t>Alloy-chain emissions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800" rIns="50800" tIns="12700" bIns="12700" anchor="ctr"/>
                    <a:lstStyle/>
                    <a:p>
                      <a:pPr algn="ctr"/>
                      <a:r>
                        <a:rPr sz="760" b="0">
                          <a:solidFill>
                            <a:srgbClr val="8A94A0"/>
                          </a:solidFill>
                          <a:latin typeface="Segoe UI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800" rIns="50800" tIns="12700" bIns="12700" anchor="ctr"/>
                    <a:lstStyle/>
                    <a:p>
                      <a:pPr algn="ctr"/>
                      <a:r>
                        <a:rPr sz="760" b="0">
                          <a:solidFill>
                            <a:srgbClr val="8A94A0"/>
                          </a:solidFill>
                          <a:latin typeface="Segoe UI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800" rIns="50800" tIns="12700" bIns="12700" anchor="ctr"/>
                    <a:lstStyle/>
                    <a:p>
                      <a:pPr algn="ctr"/>
                      <a:r>
                        <a:rPr sz="760" b="1">
                          <a:solidFill>
                            <a:srgbClr val="1D7A4F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 lIns="50800" rIns="50800" tIns="12700" bIns="12700" anchor="ctr"/>
                    <a:lstStyle/>
                    <a:p>
                      <a:pPr algn="l"/>
                      <a:r>
                        <a:rPr sz="760" b="0">
                          <a:solidFill>
                            <a:srgbClr val="1F2937"/>
                          </a:solidFill>
                          <a:latin typeface="Segoe UI"/>
                        </a:rPr>
                        <a:t>India grid / captive coal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800" rIns="50800" tIns="12700" bIns="12700" anchor="ctr"/>
                    <a:lstStyle/>
                    <a:p>
                      <a:pPr algn="ctr"/>
                      <a:r>
                        <a:rPr sz="760" b="0">
                          <a:solidFill>
                            <a:srgbClr val="8A94A0"/>
                          </a:solidFill>
                          <a:latin typeface="Segoe UI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800" rIns="50800" tIns="12700" bIns="12700" anchor="ctr"/>
                    <a:lstStyle/>
                    <a:p>
                      <a:pPr algn="ctr"/>
                      <a:r>
                        <a:rPr sz="760" b="0">
                          <a:solidFill>
                            <a:srgbClr val="8A94A0"/>
                          </a:solidFill>
                          <a:latin typeface="Segoe UI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800" rIns="50800" tIns="12700" bIns="12700" anchor="ctr"/>
                    <a:lstStyle/>
                    <a:p>
                      <a:pPr algn="ctr"/>
                      <a:r>
                        <a:rPr sz="760" b="1">
                          <a:solidFill>
                            <a:srgbClr val="1D7A4F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 lIns="50800" rIns="50800" tIns="12700" bIns="12700" anchor="ctr"/>
                    <a:lstStyle/>
                    <a:p>
                      <a:pPr algn="l"/>
                      <a:r>
                        <a:rPr sz="760" b="0">
                          <a:solidFill>
                            <a:srgbClr val="1F2937"/>
                          </a:solidFill>
                          <a:latin typeface="Segoe UI"/>
                        </a:rPr>
                        <a:t>Feasibility guardrails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800" rIns="50800" tIns="12700" bIns="12700" anchor="ctr"/>
                    <a:lstStyle/>
                    <a:p>
                      <a:pPr algn="ctr"/>
                      <a:r>
                        <a:rPr sz="760" b="0">
                          <a:solidFill>
                            <a:srgbClr val="8A94A0"/>
                          </a:solidFill>
                          <a:latin typeface="Segoe UI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800" rIns="50800" tIns="12700" bIns="12700" anchor="ctr"/>
                    <a:lstStyle/>
                    <a:p>
                      <a:pPr algn="ctr"/>
                      <a:r>
                        <a:rPr sz="760" b="0">
                          <a:solidFill>
                            <a:srgbClr val="8A94A0"/>
                          </a:solidFill>
                          <a:latin typeface="Segoe UI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800" rIns="50800" tIns="12700" bIns="12700" anchor="ctr"/>
                    <a:lstStyle/>
                    <a:p>
                      <a:pPr algn="ctr"/>
                      <a:r>
                        <a:rPr sz="760" b="1">
                          <a:solidFill>
                            <a:srgbClr val="1D7A4F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 lIns="50800" rIns="50800" tIns="12700" bIns="12700" anchor="ctr"/>
                    <a:lstStyle/>
                    <a:p>
                      <a:pPr algn="l"/>
                      <a:r>
                        <a:rPr sz="760" b="0">
                          <a:solidFill>
                            <a:srgbClr val="1F2937"/>
                          </a:solidFill>
                          <a:latin typeface="Segoe UI"/>
                        </a:rPr>
                        <a:t>CBAM cost per tonne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800" rIns="50800" tIns="12700" bIns="12700" anchor="ctr"/>
                    <a:lstStyle/>
                    <a:p>
                      <a:pPr algn="ctr"/>
                      <a:r>
                        <a:rPr sz="760" b="1">
                          <a:solidFill>
                            <a:srgbClr val="A8720E"/>
                          </a:solidFill>
                          <a:latin typeface="Segoe UI"/>
                        </a:rPr>
                        <a:t>partial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800" rIns="50800" tIns="12700" bIns="12700" anchor="ctr"/>
                    <a:lstStyle/>
                    <a:p>
                      <a:pPr algn="ctr"/>
                      <a:r>
                        <a:rPr sz="760" b="0">
                          <a:solidFill>
                            <a:srgbClr val="8A94A0"/>
                          </a:solidFill>
                          <a:latin typeface="Segoe UI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800" rIns="50800" tIns="12700" bIns="12700" anchor="ctr"/>
                    <a:lstStyle/>
                    <a:p>
                      <a:pPr algn="ctr"/>
                      <a:r>
                        <a:rPr sz="760" b="1">
                          <a:solidFill>
                            <a:srgbClr val="1D7A4F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 lIns="50800" rIns="50800" tIns="12700" bIns="12700" anchor="ctr"/>
                    <a:lstStyle/>
                    <a:p>
                      <a:pPr algn="l"/>
                      <a:r>
                        <a:rPr sz="760" b="0">
                          <a:solidFill>
                            <a:srgbClr val="1F2937"/>
                          </a:solidFill>
                          <a:latin typeface="Segoe UI"/>
                        </a:rPr>
                        <a:t>Constrained optimizer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800" rIns="50800" tIns="12700" bIns="12700" anchor="ctr"/>
                    <a:lstStyle/>
                    <a:p>
                      <a:pPr algn="ctr"/>
                      <a:r>
                        <a:rPr sz="760" b="1">
                          <a:solidFill>
                            <a:srgbClr val="A8720E"/>
                          </a:solidFill>
                          <a:latin typeface="Segoe UI"/>
                        </a:rPr>
                        <a:t>partial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800" rIns="50800" tIns="12700" bIns="12700" anchor="ctr"/>
                    <a:lstStyle/>
                    <a:p>
                      <a:pPr algn="ctr"/>
                      <a:r>
                        <a:rPr sz="760" b="0">
                          <a:solidFill>
                            <a:srgbClr val="8A94A0"/>
                          </a:solidFill>
                          <a:latin typeface="Segoe UI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800" rIns="50800" tIns="12700" bIns="12700" anchor="ctr"/>
                    <a:lstStyle/>
                    <a:p>
                      <a:pPr algn="ctr"/>
                      <a:r>
                        <a:rPr sz="760" b="1">
                          <a:solidFill>
                            <a:srgbClr val="1D7A4F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191256" y="859536"/>
            <a:ext cx="5138928" cy="182880"/>
          </a:xfrm>
          <a:prstGeom prst="rect">
            <a:avLst/>
          </a:prstGeom>
          <a:noFill/>
        </p:spPr>
        <p:txBody>
          <a:bodyPr wrap="square" anchor="t" lIns="19050" rIns="19050" tIns="6350" bIns="635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B6DB0"/>
                </a:solidFill>
                <a:latin typeface="Segoe UI"/>
              </a:rPr>
              <a:t>THE TOOL — WORKING PROTOTYPE, DEPLOYED (LINK BELOW)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91256" y="1051560"/>
            <a:ext cx="5138928" cy="10160"/>
          </a:xfrm>
          <a:prstGeom prst="rect">
            <a:avLst/>
          </a:prstGeom>
          <a:solidFill>
            <a:srgbClr val="E2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tool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1256" y="1133856"/>
            <a:ext cx="5138928" cy="3597250"/>
          </a:xfrm>
          <a:prstGeom prst="rect">
            <a:avLst/>
          </a:prstGeom>
          <a:ln w="12700">
            <a:solidFill>
              <a:srgbClr val="C9D2DC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3191256" y="4785969"/>
            <a:ext cx="5138928" cy="566928"/>
          </a:xfrm>
          <a:prstGeom prst="rect">
            <a:avLst/>
          </a:prstGeom>
          <a:noFill/>
        </p:spPr>
        <p:txBody>
          <a:bodyPr wrap="square" anchor="t" lIns="19050" rIns="19050" tIns="6350" bIns="635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19" b="1">
                <a:solidFill>
                  <a:srgbClr val="123F63"/>
                </a:solidFill>
                <a:latin typeface="Segoe UI"/>
              </a:rPr>
              <a:t>Actual product screenshot. </a:t>
            </a:r>
            <a:r>
              <a:rPr sz="819" b="0">
                <a:solidFill>
                  <a:srgbClr val="5B6570"/>
                </a:solidFill>
                <a:latin typeface="Segoe UI"/>
              </a:rPr>
              <a:t>Four operating levers (scrap, nickel source, renewables, clean fuel) with grade selection; live scope split; scenario plotted against Jindal’s audited FY22–26 trajectory; sensitivity ranking of the next best move. A constrained optimizer and a per-tonne CBAM statement sit below the fold.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31352" y="859536"/>
            <a:ext cx="3367735" cy="182880"/>
          </a:xfrm>
          <a:prstGeom prst="rect">
            <a:avLst/>
          </a:prstGeom>
          <a:noFill/>
        </p:spPr>
        <p:txBody>
          <a:bodyPr wrap="square" anchor="t" lIns="19050" rIns="19050" tIns="6350" bIns="635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B6DB0"/>
                </a:solidFill>
                <a:latin typeface="Segoe UI"/>
              </a:rPr>
              <a:t>HOW THE MODEL WORKS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31352" y="1051560"/>
            <a:ext cx="3367735" cy="10160"/>
          </a:xfrm>
          <a:prstGeom prst="rect">
            <a:avLst/>
          </a:prstGeom>
          <a:solidFill>
            <a:srgbClr val="E2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531352" y="1133856"/>
            <a:ext cx="3367735" cy="603504"/>
          </a:xfrm>
          <a:prstGeom prst="rect">
            <a:avLst/>
          </a:prstGeom>
          <a:solidFill>
            <a:srgbClr val="F5F7FA"/>
          </a:solidFill>
          <a:ln w="9525">
            <a:solidFill>
              <a:srgbClr val="E2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86216" y="1170432"/>
            <a:ext cx="3258007" cy="548640"/>
          </a:xfrm>
          <a:prstGeom prst="rect">
            <a:avLst/>
          </a:prstGeom>
          <a:noFill/>
        </p:spPr>
        <p:txBody>
          <a:bodyPr wrap="square" anchor="t" lIns="19050" rIns="19050" tIns="6350" bIns="6350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0">
                <a:solidFill>
                  <a:srgbClr val="1F2937"/>
                </a:solidFill>
                <a:latin typeface="Consolas"/>
              </a:rPr>
              <a:t>CO₂/t = S1 (fuels, AOD, captive power)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0">
                <a:solidFill>
                  <a:srgbClr val="1F2937"/>
                </a:solidFill>
                <a:latin typeface="Consolas"/>
              </a:rPr>
              <a:t>  + S2 (grid electricity × CEA factor)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0">
                <a:solidFill>
                  <a:srgbClr val="1F2937"/>
                </a:solidFill>
                <a:latin typeface="Consolas"/>
              </a:rPr>
              <a:t>  + S3 ((1−scrap%) × Σ alloy mass × EF)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8531352" y="1828800"/>
          <a:ext cx="3367735" cy="1289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960120"/>
                <a:gridCol w="1173175"/>
              </a:tblGrid>
              <a:tr h="214884">
                <a:tc>
                  <a:txBody>
                    <a:bodyPr wrap="square" lIns="50800" rIns="50800" tIns="12700" bIns="12700" anchor="ctr"/>
                    <a:lstStyle/>
                    <a:p>
                      <a:pPr algn="l"/>
                      <a:r>
                        <a:rPr sz="740" b="1">
                          <a:solidFill>
                            <a:srgbClr val="5B6570"/>
                          </a:solidFill>
                          <a:latin typeface="Segoe UI"/>
                        </a:rPr>
                        <a:t>Key factor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tc>
                  <a:txBody>
                    <a:bodyPr wrap="square" lIns="50800" rIns="50800" tIns="12700" bIns="12700" anchor="ctr"/>
                    <a:lstStyle/>
                    <a:p>
                      <a:pPr algn="l"/>
                      <a:r>
                        <a:rPr sz="740" b="1">
                          <a:solidFill>
                            <a:srgbClr val="5B6570"/>
                          </a:solidFill>
                          <a:latin typeface="Segoe UI"/>
                        </a:rPr>
                        <a:t>Value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tc>
                  <a:txBody>
                    <a:bodyPr wrap="square" lIns="50800" rIns="50800" tIns="12700" bIns="12700" anchor="ctr"/>
                    <a:lstStyle/>
                    <a:p>
                      <a:pPr algn="l"/>
                      <a:r>
                        <a:rPr sz="740" b="1">
                          <a:solidFill>
                            <a:srgbClr val="5B6570"/>
                          </a:solidFill>
                          <a:latin typeface="Segoe UI"/>
                        </a:rPr>
                        <a:t>Source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</a:tr>
              <a:tr h="214884">
                <a:tc>
                  <a:txBody>
                    <a:bodyPr wrap="square" lIns="50800" rIns="50800" tIns="12700" bIns="12700" anchor="ctr"/>
                    <a:lstStyle/>
                    <a:p>
                      <a:pPr algn="l"/>
                      <a:r>
                        <a:rPr sz="740" b="0">
                          <a:solidFill>
                            <a:srgbClr val="1F2937"/>
                          </a:solidFill>
                          <a:latin typeface="Segoe UI"/>
                        </a:rPr>
                        <a:t>India grid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800" rIns="50800" tIns="12700" bIns="12700" anchor="ctr"/>
                    <a:lstStyle/>
                    <a:p>
                      <a:pPr algn="r"/>
                      <a:r>
                        <a:rPr sz="740" b="0">
                          <a:solidFill>
                            <a:srgbClr val="1F2937"/>
                          </a:solidFill>
                          <a:latin typeface="Segoe UI"/>
                        </a:rPr>
                        <a:t>0.710 t/MWh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800" rIns="50800" tIns="12700" bIns="12700" anchor="ctr"/>
                    <a:lstStyle/>
                    <a:p>
                      <a:pPr algn="l"/>
                      <a:r>
                        <a:rPr sz="740" b="0">
                          <a:solidFill>
                            <a:srgbClr val="1F2937"/>
                          </a:solidFill>
                          <a:latin typeface="Segoe UI"/>
                        </a:rPr>
                        <a:t>CEA v21.0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 lIns="50800" rIns="50800" tIns="12700" bIns="12700" anchor="ctr"/>
                    <a:lstStyle/>
                    <a:p>
                      <a:pPr algn="l"/>
                      <a:r>
                        <a:rPr sz="740" b="0">
                          <a:solidFill>
                            <a:srgbClr val="1F2937"/>
                          </a:solidFill>
                          <a:latin typeface="Segoe UI"/>
                        </a:rPr>
                        <a:t>Captive coal power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800" rIns="50800" tIns="12700" bIns="12700" anchor="ctr"/>
                    <a:lstStyle/>
                    <a:p>
                      <a:pPr algn="r"/>
                      <a:r>
                        <a:rPr sz="740" b="0">
                          <a:solidFill>
                            <a:srgbClr val="1F2937"/>
                          </a:solidFill>
                          <a:latin typeface="Segoe UI"/>
                        </a:rPr>
                        <a:t>1.045 t/MWh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800" rIns="50800" tIns="12700" bIns="12700" anchor="ctr"/>
                    <a:lstStyle/>
                    <a:p>
                      <a:pPr algn="l"/>
                      <a:r>
                        <a:rPr sz="740" b="0">
                          <a:solidFill>
                            <a:srgbClr val="1F2937"/>
                          </a:solidFill>
                          <a:latin typeface="Segoe UI"/>
                        </a:rPr>
                        <a:t>CEA heat rate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 lIns="50800" rIns="50800" tIns="12700" bIns="12700" anchor="ctr"/>
                    <a:lstStyle/>
                    <a:p>
                      <a:pPr algn="l"/>
                      <a:r>
                        <a:rPr sz="740" b="0">
                          <a:solidFill>
                            <a:srgbClr val="1F2937"/>
                          </a:solidFill>
                          <a:latin typeface="Segoe UI"/>
                        </a:rPr>
                        <a:t>Odisha ferrochrome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800" rIns="50800" tIns="12700" bIns="12700" anchor="ctr"/>
                    <a:lstStyle/>
                    <a:p>
                      <a:pPr algn="r"/>
                      <a:r>
                        <a:rPr sz="740" b="0">
                          <a:solidFill>
                            <a:srgbClr val="1F2937"/>
                          </a:solidFill>
                          <a:latin typeface="Segoe UI"/>
                        </a:rPr>
                        <a:t>5.4–5.9 t/t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800" rIns="50800" tIns="12700" bIns="12700" anchor="ctr"/>
                    <a:lstStyle/>
                    <a:p>
                      <a:pPr algn="l"/>
                      <a:r>
                        <a:rPr sz="740" b="0">
                          <a:solidFill>
                            <a:srgbClr val="1F2937"/>
                          </a:solidFill>
                          <a:latin typeface="Segoe UI"/>
                        </a:rPr>
                        <a:t>ICDA LCA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 lIns="50800" rIns="50800" tIns="12700" bIns="12700" anchor="ctr"/>
                    <a:lstStyle/>
                    <a:p>
                      <a:pPr algn="l"/>
                      <a:r>
                        <a:rPr sz="740" b="0">
                          <a:solidFill>
                            <a:srgbClr val="1F2937"/>
                          </a:solidFill>
                          <a:latin typeface="Segoe UI"/>
                        </a:rPr>
                        <a:t>NPI (contained Ni)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800" rIns="50800" tIns="12700" bIns="12700" anchor="ctr"/>
                    <a:lstStyle/>
                    <a:p>
                      <a:pPr algn="r"/>
                      <a:r>
                        <a:rPr sz="740" b="0">
                          <a:solidFill>
                            <a:srgbClr val="1F2937"/>
                          </a:solidFill>
                          <a:latin typeface="Segoe UI"/>
                        </a:rPr>
                        <a:t>60–85 t/t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800" rIns="50800" tIns="12700" bIns="12700" anchor="ctr"/>
                    <a:lstStyle/>
                    <a:p>
                      <a:pPr algn="l"/>
                      <a:r>
                        <a:rPr sz="740" b="0">
                          <a:solidFill>
                            <a:srgbClr val="1F2937"/>
                          </a:solidFill>
                          <a:latin typeface="Segoe UI"/>
                        </a:rPr>
                        <a:t>ISSF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 lIns="50800" rIns="50800" tIns="12700" bIns="12700" anchor="ctr"/>
                    <a:lstStyle/>
                    <a:p>
                      <a:pPr algn="l"/>
                      <a:r>
                        <a:rPr sz="740" b="0">
                          <a:solidFill>
                            <a:srgbClr val="1F2937"/>
                          </a:solidFill>
                          <a:latin typeface="Segoe UI"/>
                        </a:rPr>
                        <a:t>Grade chemistry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800" rIns="50800" tIns="12700" bIns="12700" anchor="ctr"/>
                    <a:lstStyle/>
                    <a:p>
                      <a:pPr algn="r"/>
                      <a:r>
                        <a:rPr sz="740" b="0">
                          <a:solidFill>
                            <a:srgbClr val="1F2937"/>
                          </a:solidFill>
                          <a:latin typeface="Segoe UI"/>
                        </a:rPr>
                        <a:t>304/316/430/2205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800" rIns="50800" tIns="12700" bIns="12700" anchor="ctr"/>
                    <a:lstStyle/>
                    <a:p>
                      <a:pPr algn="l"/>
                      <a:r>
                        <a:rPr sz="740" b="0">
                          <a:solidFill>
                            <a:srgbClr val="1F2937"/>
                          </a:solidFill>
                          <a:latin typeface="Segoe UI"/>
                        </a:rPr>
                        <a:t>mass balance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8531352" y="3236976"/>
            <a:ext cx="3367735" cy="182880"/>
          </a:xfrm>
          <a:prstGeom prst="rect">
            <a:avLst/>
          </a:prstGeom>
          <a:noFill/>
        </p:spPr>
        <p:txBody>
          <a:bodyPr wrap="square" anchor="t" lIns="19050" rIns="19050" tIns="6350" bIns="635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B6DB0"/>
                </a:solidFill>
                <a:latin typeface="Segoe UI"/>
              </a:rPr>
              <a:t>PRACTICALITY BUILT IN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531352" y="3429000"/>
            <a:ext cx="3367735" cy="10160"/>
          </a:xfrm>
          <a:prstGeom prst="rect">
            <a:avLst/>
          </a:prstGeom>
          <a:solidFill>
            <a:srgbClr val="E2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49640" y="3511296"/>
            <a:ext cx="3331159" cy="310896"/>
          </a:xfrm>
          <a:prstGeom prst="rect">
            <a:avLst/>
          </a:prstGeom>
          <a:noFill/>
        </p:spPr>
        <p:txBody>
          <a:bodyPr wrap="square" anchor="t" lIns="19050" rIns="19050" tIns="6350" bIns="635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750" b="0">
                <a:solidFill>
                  <a:srgbClr val="1B6DB0"/>
                </a:solidFill>
                <a:latin typeface="Segoe UI"/>
              </a:rPr>
              <a:t>▪ </a:t>
            </a:r>
            <a:r>
              <a:rPr sz="800" b="0">
                <a:solidFill>
                  <a:srgbClr val="1F2937"/>
                </a:solidFill>
                <a:latin typeface="Segoe UI"/>
              </a:rPr>
              <a:t>Scrap capped at 80% (Cu/Sn tramp-element metallurgy; India scrap supply)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49640" y="3817620"/>
            <a:ext cx="3331159" cy="310896"/>
          </a:xfrm>
          <a:prstGeom prst="rect">
            <a:avLst/>
          </a:prstGeom>
          <a:noFill/>
        </p:spPr>
        <p:txBody>
          <a:bodyPr wrap="square" anchor="t" lIns="19050" rIns="19050" tIns="6350" bIns="635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750" b="0">
                <a:solidFill>
                  <a:srgbClr val="1B6DB0"/>
                </a:solidFill>
                <a:latin typeface="Segoe UI"/>
              </a:rPr>
              <a:t>▪ </a:t>
            </a:r>
            <a:r>
              <a:rPr sz="800" b="0">
                <a:solidFill>
                  <a:srgbClr val="1F2937"/>
                </a:solidFill>
                <a:latin typeface="Segoe UI"/>
              </a:rPr>
              <a:t>Captive ferrochrome kept inside Scope 1+2 — no double counting with Scope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49640" y="4123944"/>
            <a:ext cx="3331159" cy="310896"/>
          </a:xfrm>
          <a:prstGeom prst="rect">
            <a:avLst/>
          </a:prstGeom>
          <a:noFill/>
        </p:spPr>
        <p:txBody>
          <a:bodyPr wrap="square" anchor="t" lIns="19050" rIns="19050" tIns="6350" bIns="635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750" b="0">
                <a:solidFill>
                  <a:srgbClr val="1B6DB0"/>
                </a:solidFill>
                <a:latin typeface="Segoe UI"/>
              </a:rPr>
              <a:t>▪ </a:t>
            </a:r>
            <a:r>
              <a:rPr sz="800" b="0">
                <a:solidFill>
                  <a:srgbClr val="1F2937"/>
                </a:solidFill>
                <a:latin typeface="Segoe UI"/>
              </a:rPr>
              <a:t>Dual output per ISSF method: recycled-content and end-of-life credit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531352" y="4457700"/>
            <a:ext cx="3367735" cy="749808"/>
          </a:xfrm>
          <a:prstGeom prst="rect">
            <a:avLst/>
          </a:prstGeom>
          <a:solidFill>
            <a:srgbClr val="F2F7EE"/>
          </a:solidFill>
          <a:ln w="9525">
            <a:solidFill>
              <a:srgbClr val="CFE0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0" y="4503420"/>
            <a:ext cx="3239719" cy="676656"/>
          </a:xfrm>
          <a:prstGeom prst="rect">
            <a:avLst/>
          </a:prstGeom>
          <a:noFill/>
        </p:spPr>
        <p:txBody>
          <a:bodyPr wrap="square" anchor="t" lIns="19050" rIns="19050" tIns="6350" bIns="635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19" b="1">
                <a:solidFill>
                  <a:srgbClr val="1D7A4F"/>
                </a:solidFill>
                <a:latin typeface="Segoe UI"/>
              </a:rPr>
              <a:t>Calibration check: </a:t>
            </a:r>
            <a:r>
              <a:rPr sz="819" b="0">
                <a:solidFill>
                  <a:srgbClr val="2C4A22"/>
                </a:solidFill>
                <a:latin typeface="Segoe UI"/>
              </a:rPr>
              <a:t>with Jindal’s disclosed FY26 inputs (70% scrap, 47% RE), the model returns 1.73 / 2.99 tCO₂e/t against the audited 1.76 / 3.03 — within ~2%.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92608" y="5486400"/>
            <a:ext cx="11606479" cy="10160"/>
          </a:xfrm>
          <a:prstGeom prst="rect">
            <a:avLst/>
          </a:prstGeom>
          <a:solidFill>
            <a:srgbClr val="E2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92608" y="5541264"/>
            <a:ext cx="1548340" cy="566928"/>
          </a:xfrm>
          <a:prstGeom prst="rect">
            <a:avLst/>
          </a:prstGeom>
          <a:solidFill>
            <a:srgbClr val="F5F7FA"/>
          </a:solidFill>
          <a:ln w="9525">
            <a:solidFill>
              <a:srgbClr val="C9D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38328" y="5568696"/>
            <a:ext cx="1456900" cy="512064"/>
          </a:xfrm>
          <a:prstGeom prst="rect">
            <a:avLst/>
          </a:prstGeom>
          <a:noFill/>
        </p:spPr>
        <p:txBody>
          <a:bodyPr wrap="square" anchor="t" lIns="19050" rIns="19050" tIns="6350" bIns="6350">
            <a:spAutoFit/>
          </a:bodyPr>
          <a:lstStyle/>
          <a:p>
            <a:pPr algn="l">
              <a:lnSpc>
                <a:spcPct val="95000"/>
              </a:lnSpc>
              <a:spcAft>
                <a:spcPts val="50"/>
              </a:spcAft>
            </a:pPr>
            <a:r>
              <a:rPr sz="800" b="1">
                <a:solidFill>
                  <a:srgbClr val="123F63"/>
                </a:solidFill>
                <a:latin typeface="Segoe UI"/>
              </a:rPr>
              <a:t>Charge make-up</a:t>
            </a:r>
          </a:p>
          <a:p>
            <a:pPr algn="l">
              <a:lnSpc>
                <a:spcPct val="95000"/>
              </a:lnSpc>
              <a:spcAft>
                <a:spcPts val="50"/>
              </a:spcAft>
            </a:pPr>
            <a:r>
              <a:rPr sz="700" b="0">
                <a:solidFill>
                  <a:srgbClr val="5B6570"/>
                </a:solidFill>
                <a:latin typeface="Segoe UI"/>
              </a:rPr>
              <a:t>scrap + FeCr + Ni units (Scope 3)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27232" y="5696712"/>
            <a:ext cx="155448" cy="228600"/>
          </a:xfrm>
          <a:prstGeom prst="rect">
            <a:avLst/>
          </a:prstGeom>
          <a:noFill/>
        </p:spPr>
        <p:txBody>
          <a:bodyPr wrap="square" anchor="t" lIns="19050" rIns="19050" tIns="6350" bIns="635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000" b="0">
                <a:solidFill>
                  <a:srgbClr val="8A94A0"/>
                </a:solidFill>
                <a:latin typeface="Segoe UI"/>
              </a:rPr>
              <a:t>›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968964" y="5541264"/>
            <a:ext cx="1548340" cy="566928"/>
          </a:xfrm>
          <a:prstGeom prst="rect">
            <a:avLst/>
          </a:prstGeom>
          <a:solidFill>
            <a:srgbClr val="F5F7FA"/>
          </a:solidFill>
          <a:ln w="9525">
            <a:solidFill>
              <a:srgbClr val="C9D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014684" y="5568696"/>
            <a:ext cx="1456900" cy="512064"/>
          </a:xfrm>
          <a:prstGeom prst="rect">
            <a:avLst/>
          </a:prstGeom>
          <a:noFill/>
        </p:spPr>
        <p:txBody>
          <a:bodyPr wrap="square" anchor="t" lIns="19050" rIns="19050" tIns="6350" bIns="6350">
            <a:spAutoFit/>
          </a:bodyPr>
          <a:lstStyle/>
          <a:p>
            <a:pPr algn="l">
              <a:lnSpc>
                <a:spcPct val="95000"/>
              </a:lnSpc>
              <a:spcAft>
                <a:spcPts val="50"/>
              </a:spcAft>
            </a:pPr>
            <a:r>
              <a:rPr sz="800" b="1">
                <a:solidFill>
                  <a:srgbClr val="123F63"/>
                </a:solidFill>
                <a:latin typeface="Segoe UI"/>
              </a:rPr>
              <a:t>EAF melt</a:t>
            </a:r>
          </a:p>
          <a:p>
            <a:pPr algn="l">
              <a:lnSpc>
                <a:spcPct val="95000"/>
              </a:lnSpc>
              <a:spcAft>
                <a:spcPts val="50"/>
              </a:spcAft>
            </a:pPr>
            <a:r>
              <a:rPr sz="700" b="0">
                <a:solidFill>
                  <a:srgbClr val="5B6570"/>
                </a:solidFill>
                <a:latin typeface="Segoe UI"/>
              </a:rPr>
              <a:t>400–600 kWh/t (Scope 2)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03588" y="5696712"/>
            <a:ext cx="155448" cy="228600"/>
          </a:xfrm>
          <a:prstGeom prst="rect">
            <a:avLst/>
          </a:prstGeom>
          <a:noFill/>
        </p:spPr>
        <p:txBody>
          <a:bodyPr wrap="square" anchor="t" lIns="19050" rIns="19050" tIns="6350" bIns="635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000" b="0">
                <a:solidFill>
                  <a:srgbClr val="8A94A0"/>
                </a:solidFill>
                <a:latin typeface="Segoe UI"/>
              </a:rPr>
              <a:t>›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45320" y="5541264"/>
            <a:ext cx="1548340" cy="566928"/>
          </a:xfrm>
          <a:prstGeom prst="rect">
            <a:avLst/>
          </a:prstGeom>
          <a:solidFill>
            <a:srgbClr val="F5F7FA"/>
          </a:solidFill>
          <a:ln w="9525">
            <a:solidFill>
              <a:srgbClr val="C9D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91040" y="5568696"/>
            <a:ext cx="1456900" cy="512064"/>
          </a:xfrm>
          <a:prstGeom prst="rect">
            <a:avLst/>
          </a:prstGeom>
          <a:noFill/>
        </p:spPr>
        <p:txBody>
          <a:bodyPr wrap="square" anchor="t" lIns="19050" rIns="19050" tIns="6350" bIns="6350">
            <a:spAutoFit/>
          </a:bodyPr>
          <a:lstStyle/>
          <a:p>
            <a:pPr algn="l">
              <a:lnSpc>
                <a:spcPct val="95000"/>
              </a:lnSpc>
              <a:spcAft>
                <a:spcPts val="50"/>
              </a:spcAft>
            </a:pPr>
            <a:r>
              <a:rPr sz="800" b="1">
                <a:solidFill>
                  <a:srgbClr val="123F63"/>
                </a:solidFill>
                <a:latin typeface="Segoe UI"/>
              </a:rPr>
              <a:t>AOD refine</a:t>
            </a:r>
          </a:p>
          <a:p>
            <a:pPr algn="l">
              <a:lnSpc>
                <a:spcPct val="95000"/>
              </a:lnSpc>
              <a:spcAft>
                <a:spcPts val="50"/>
              </a:spcAft>
            </a:pPr>
            <a:r>
              <a:rPr sz="700" b="0">
                <a:solidFill>
                  <a:srgbClr val="5B6570"/>
                </a:solidFill>
                <a:latin typeface="Segoe UI"/>
              </a:rPr>
              <a:t>process CO₂ (Scope 1)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79944" y="5696712"/>
            <a:ext cx="155448" cy="228600"/>
          </a:xfrm>
          <a:prstGeom prst="rect">
            <a:avLst/>
          </a:prstGeom>
          <a:noFill/>
        </p:spPr>
        <p:txBody>
          <a:bodyPr wrap="square" anchor="t" lIns="19050" rIns="19050" tIns="6350" bIns="635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000" b="0">
                <a:solidFill>
                  <a:srgbClr val="8A94A0"/>
                </a:solidFill>
                <a:latin typeface="Segoe UI"/>
              </a:rPr>
              <a:t>›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321676" y="5541264"/>
            <a:ext cx="1548340" cy="566928"/>
          </a:xfrm>
          <a:prstGeom prst="rect">
            <a:avLst/>
          </a:prstGeom>
          <a:solidFill>
            <a:srgbClr val="F5F7FA"/>
          </a:solidFill>
          <a:ln w="9525">
            <a:solidFill>
              <a:srgbClr val="C9D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367396" y="5568696"/>
            <a:ext cx="1456900" cy="512064"/>
          </a:xfrm>
          <a:prstGeom prst="rect">
            <a:avLst/>
          </a:prstGeom>
          <a:noFill/>
        </p:spPr>
        <p:txBody>
          <a:bodyPr wrap="square" anchor="t" lIns="19050" rIns="19050" tIns="6350" bIns="6350">
            <a:spAutoFit/>
          </a:bodyPr>
          <a:lstStyle/>
          <a:p>
            <a:pPr algn="l">
              <a:lnSpc>
                <a:spcPct val="95000"/>
              </a:lnSpc>
              <a:spcAft>
                <a:spcPts val="50"/>
              </a:spcAft>
            </a:pPr>
            <a:r>
              <a:rPr sz="800" b="1">
                <a:solidFill>
                  <a:srgbClr val="123F63"/>
                </a:solidFill>
                <a:latin typeface="Segoe UI"/>
              </a:rPr>
              <a:t>Cast + reheat</a:t>
            </a:r>
          </a:p>
          <a:p>
            <a:pPr algn="l">
              <a:lnSpc>
                <a:spcPct val="95000"/>
              </a:lnSpc>
              <a:spcAft>
                <a:spcPts val="50"/>
              </a:spcAft>
            </a:pPr>
            <a:r>
              <a:rPr sz="700" b="0">
                <a:solidFill>
                  <a:srgbClr val="5B6570"/>
                </a:solidFill>
                <a:latin typeface="Segoe UI"/>
              </a:rPr>
              <a:t>FO/LSHS → NG, Bio-LDO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6300" y="5696712"/>
            <a:ext cx="155448" cy="228600"/>
          </a:xfrm>
          <a:prstGeom prst="rect">
            <a:avLst/>
          </a:prstGeom>
          <a:noFill/>
        </p:spPr>
        <p:txBody>
          <a:bodyPr wrap="square" anchor="t" lIns="19050" rIns="19050" tIns="6350" bIns="635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000" b="0">
                <a:solidFill>
                  <a:srgbClr val="8A94A0"/>
                </a:solidFill>
                <a:latin typeface="Segoe UI"/>
              </a:rPr>
              <a:t>›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998032" y="5541264"/>
            <a:ext cx="1548340" cy="566928"/>
          </a:xfrm>
          <a:prstGeom prst="rect">
            <a:avLst/>
          </a:prstGeom>
          <a:solidFill>
            <a:srgbClr val="F5F7FA"/>
          </a:solidFill>
          <a:ln w="9525">
            <a:solidFill>
              <a:srgbClr val="C9D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043752" y="5568696"/>
            <a:ext cx="1456900" cy="512064"/>
          </a:xfrm>
          <a:prstGeom prst="rect">
            <a:avLst/>
          </a:prstGeom>
          <a:noFill/>
        </p:spPr>
        <p:txBody>
          <a:bodyPr wrap="square" anchor="t" lIns="19050" rIns="19050" tIns="6350" bIns="6350">
            <a:spAutoFit/>
          </a:bodyPr>
          <a:lstStyle/>
          <a:p>
            <a:pPr algn="l">
              <a:lnSpc>
                <a:spcPct val="95000"/>
              </a:lnSpc>
              <a:spcAft>
                <a:spcPts val="50"/>
              </a:spcAft>
            </a:pPr>
            <a:r>
              <a:rPr sz="800" b="1">
                <a:solidFill>
                  <a:srgbClr val="123F63"/>
                </a:solidFill>
                <a:latin typeface="Segoe UI"/>
              </a:rPr>
              <a:t>Roll + finish</a:t>
            </a:r>
          </a:p>
          <a:p>
            <a:pPr algn="l">
              <a:lnSpc>
                <a:spcPct val="95000"/>
              </a:lnSpc>
              <a:spcAft>
                <a:spcPts val="50"/>
              </a:spcAft>
            </a:pPr>
            <a:r>
              <a:rPr sz="700" b="0">
                <a:solidFill>
                  <a:srgbClr val="5B6570"/>
                </a:solidFill>
                <a:latin typeface="Segoe UI"/>
              </a:rPr>
              <a:t>anneal, pickle; propane → H₂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32656" y="5696712"/>
            <a:ext cx="155448" cy="228600"/>
          </a:xfrm>
          <a:prstGeom prst="rect">
            <a:avLst/>
          </a:prstGeom>
          <a:noFill/>
        </p:spPr>
        <p:txBody>
          <a:bodyPr wrap="square" anchor="t" lIns="19050" rIns="19050" tIns="6350" bIns="635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000" b="0">
                <a:solidFill>
                  <a:srgbClr val="8A94A0"/>
                </a:solidFill>
                <a:latin typeface="Segoe UI"/>
              </a:rPr>
              <a:t>›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674388" y="5541264"/>
            <a:ext cx="1548340" cy="566928"/>
          </a:xfrm>
          <a:prstGeom prst="rect">
            <a:avLst/>
          </a:prstGeom>
          <a:solidFill>
            <a:srgbClr val="F5F7FA"/>
          </a:solidFill>
          <a:ln w="9525">
            <a:solidFill>
              <a:srgbClr val="C9D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720108" y="5568696"/>
            <a:ext cx="1456900" cy="512064"/>
          </a:xfrm>
          <a:prstGeom prst="rect">
            <a:avLst/>
          </a:prstGeom>
          <a:noFill/>
        </p:spPr>
        <p:txBody>
          <a:bodyPr wrap="square" anchor="t" lIns="19050" rIns="19050" tIns="6350" bIns="6350">
            <a:spAutoFit/>
          </a:bodyPr>
          <a:lstStyle/>
          <a:p>
            <a:pPr algn="l">
              <a:lnSpc>
                <a:spcPct val="95000"/>
              </a:lnSpc>
              <a:spcAft>
                <a:spcPts val="50"/>
              </a:spcAft>
            </a:pPr>
            <a:r>
              <a:rPr sz="800" b="1">
                <a:solidFill>
                  <a:srgbClr val="123F63"/>
                </a:solidFill>
                <a:latin typeface="Segoe UI"/>
              </a:rPr>
              <a:t>Mill gate</a:t>
            </a:r>
          </a:p>
          <a:p>
            <a:pPr algn="l">
              <a:lnSpc>
                <a:spcPct val="95000"/>
              </a:lnSpc>
              <a:spcAft>
                <a:spcPts val="50"/>
              </a:spcAft>
            </a:pPr>
            <a:r>
              <a:rPr sz="700" b="0">
                <a:solidFill>
                  <a:srgbClr val="5B6570"/>
                </a:solidFill>
                <a:latin typeface="Segoe UI"/>
              </a:rPr>
              <a:t>1.76 S1+2 · 3.03 total (FY26)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209012" y="5696712"/>
            <a:ext cx="155448" cy="228600"/>
          </a:xfrm>
          <a:prstGeom prst="rect">
            <a:avLst/>
          </a:prstGeom>
          <a:noFill/>
        </p:spPr>
        <p:txBody>
          <a:bodyPr wrap="square" anchor="t" lIns="19050" rIns="19050" tIns="6350" bIns="635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000" b="0">
                <a:solidFill>
                  <a:srgbClr val="8A94A0"/>
                </a:solidFill>
                <a:latin typeface="Segoe UI"/>
              </a:rPr>
              <a:t>›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350744" y="5541264"/>
            <a:ext cx="1548340" cy="566928"/>
          </a:xfrm>
          <a:prstGeom prst="rect">
            <a:avLst/>
          </a:prstGeom>
          <a:solidFill>
            <a:srgbClr val="F5F7FA"/>
          </a:solidFill>
          <a:ln w="9525">
            <a:solidFill>
              <a:srgbClr val="C9D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396464" y="5568696"/>
            <a:ext cx="1456900" cy="512064"/>
          </a:xfrm>
          <a:prstGeom prst="rect">
            <a:avLst/>
          </a:prstGeom>
          <a:noFill/>
        </p:spPr>
        <p:txBody>
          <a:bodyPr wrap="square" anchor="t" lIns="19050" rIns="19050" tIns="6350" bIns="6350">
            <a:spAutoFit/>
          </a:bodyPr>
          <a:lstStyle/>
          <a:p>
            <a:pPr algn="l">
              <a:lnSpc>
                <a:spcPct val="95000"/>
              </a:lnSpc>
              <a:spcAft>
                <a:spcPts val="50"/>
              </a:spcAft>
            </a:pPr>
            <a:r>
              <a:rPr sz="800" b="1">
                <a:solidFill>
                  <a:srgbClr val="123F63"/>
                </a:solidFill>
                <a:latin typeface="Segoe UI"/>
              </a:rPr>
              <a:t>EU border</a:t>
            </a:r>
          </a:p>
          <a:p>
            <a:pPr algn="l">
              <a:lnSpc>
                <a:spcPct val="95000"/>
              </a:lnSpc>
              <a:spcAft>
                <a:spcPts val="50"/>
              </a:spcAft>
            </a:pPr>
            <a:r>
              <a:rPr sz="700" b="0">
                <a:solidFill>
                  <a:srgbClr val="5B6570"/>
                </a:solidFill>
                <a:latin typeface="Segoe UI"/>
              </a:rPr>
              <a:t>CBAM 2030: €446 default vs €48–74 verified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92608" y="6382512"/>
            <a:ext cx="11606479" cy="10160"/>
          </a:xfrm>
          <a:prstGeom prst="rect">
            <a:avLst/>
          </a:prstGeom>
          <a:solidFill>
            <a:srgbClr val="E2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92608" y="6437376"/>
            <a:ext cx="11155680" cy="384048"/>
          </a:xfrm>
          <a:prstGeom prst="rect">
            <a:avLst/>
          </a:prstGeom>
          <a:noFill/>
        </p:spPr>
        <p:txBody>
          <a:bodyPr wrap="square" anchor="t" lIns="19050" rIns="19050" tIns="6350" bIns="635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700" b="0">
                <a:solidFill>
                  <a:srgbClr val="8A94A0"/>
                </a:solidFill>
                <a:latin typeface="Segoe UI"/>
              </a:rPr>
              <a:t>Source: JSL ESG Factsheets, BRSR and CDP disclosures FY22–26; CEA CO₂ Baseline Database v21.0; BEE PAT; IPCC 2006; worldstainless/ISSF; ICDA ferrochrome LCA; EU Regulations 2023/956 and 2025/2620-21; team analysis (19 research files, 40+ primary sources).  </a:t>
            </a:r>
            <a:r>
              <a:rPr sz="700" b="1">
                <a:solidFill>
                  <a:srgbClr val="5B6570"/>
                </a:solidFill>
                <a:latin typeface="Segoe UI"/>
              </a:rPr>
              <a:t>Live prototype: </a:t>
            </a:r>
            <a:r>
              <a:rPr sz="700" b="0">
                <a:solidFill>
                  <a:srgbClr val="1B6DB0"/>
                </a:solidFill>
                <a:latin typeface="Segoe UI"/>
                <a:hlinkClick r:id="rId3"/>
              </a:rPr>
              <a:t>ritehrks.github.io/jindal-steel-case-study/website</a:t>
            </a:r>
            <a:r>
              <a:rPr sz="700" b="0">
                <a:solidFill>
                  <a:srgbClr val="8A94A0"/>
                </a:solidFill>
                <a:latin typeface="Segoe UI"/>
              </a:rPr>
              <a:t>   ·   </a:t>
            </a:r>
            <a:r>
              <a:rPr sz="700" b="1">
                <a:solidFill>
                  <a:srgbClr val="5B6570"/>
                </a:solidFill>
                <a:latin typeface="Segoe UI"/>
              </a:rPr>
              <a:t>Research appendix: </a:t>
            </a:r>
            <a:r>
              <a:rPr sz="700" b="0">
                <a:solidFill>
                  <a:srgbClr val="1B6DB0"/>
                </a:solidFill>
                <a:latin typeface="Segoe UI"/>
                <a:hlinkClick r:id="rId4"/>
              </a:rPr>
              <a:t>ritehrks.github.io/jindal-steel-case-study/appendix.pdf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750040" y="6437376"/>
            <a:ext cx="320040" cy="201168"/>
          </a:xfrm>
          <a:prstGeom prst="rect">
            <a:avLst/>
          </a:prstGeom>
          <a:noFill/>
        </p:spPr>
        <p:txBody>
          <a:bodyPr wrap="square" anchor="t" lIns="19050" rIns="19050" tIns="6350" bIns="6350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800" b="0">
                <a:solidFill>
                  <a:srgbClr val="5B6570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92608" y="91440"/>
            <a:ext cx="9464040" cy="603504"/>
          </a:xfrm>
          <a:prstGeom prst="rect">
            <a:avLst/>
          </a:prstGeom>
          <a:noFill/>
        </p:spPr>
        <p:txBody>
          <a:bodyPr wrap="square" anchor="t" lIns="19050" rIns="19050" tIns="6350" bIns="6350">
            <a:spAutoFit/>
          </a:bodyPr>
          <a:lstStyle/>
          <a:p>
            <a:pPr algn="l">
              <a:lnSpc>
                <a:spcPct val="108000"/>
              </a:lnSpc>
              <a:spcAft>
                <a:spcPts val="100"/>
              </a:spcAft>
            </a:pPr>
            <a:r>
              <a:rPr sz="1450" b="0">
                <a:solidFill>
                  <a:srgbClr val="123F63"/>
                </a:solidFill>
                <a:latin typeface="Segoe UI"/>
              </a:rPr>
              <a:t>Calibrated to Jindal's audited disclosures, the model maps a practical path from </a:t>
            </a:r>
            <a:r>
              <a:rPr sz="1450" b="1">
                <a:solidFill>
                  <a:srgbClr val="123F63"/>
                </a:solidFill>
                <a:latin typeface="Segoe UI"/>
              </a:rPr>
              <a:t>1.76 to 1.35–1.45 tCO₂e/t</a:t>
            </a:r>
            <a:r>
              <a:rPr sz="1450" b="0">
                <a:solidFill>
                  <a:srgbClr val="123F63"/>
                </a:solidFill>
                <a:latin typeface="Segoe UI"/>
              </a:rPr>
              <a:t> —</a:t>
            </a:r>
          </a:p>
          <a:p>
            <a:pPr algn="l">
              <a:lnSpc>
                <a:spcPct val="108000"/>
              </a:lnSpc>
              <a:spcAft>
                <a:spcPts val="100"/>
              </a:spcAft>
            </a:pPr>
            <a:r>
              <a:rPr sz="1450" b="0">
                <a:solidFill>
                  <a:srgbClr val="123F63"/>
                </a:solidFill>
                <a:latin typeface="Segoe UI"/>
              </a:rPr>
              <a:t>and verified data protects </a:t>
            </a:r>
            <a:r>
              <a:rPr sz="1450" b="1">
                <a:solidFill>
                  <a:srgbClr val="123F63"/>
                </a:solidFill>
                <a:latin typeface="Segoe UI"/>
              </a:rPr>
              <a:t>₹200–290 crore a year</a:t>
            </a:r>
            <a:r>
              <a:rPr sz="1450" b="0">
                <a:solidFill>
                  <a:srgbClr val="123F63"/>
                </a:solidFill>
                <a:latin typeface="Segoe UI"/>
              </a:rPr>
              <a:t> of CBAM exposure by 2030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46920" y="146304"/>
            <a:ext cx="2267712" cy="548640"/>
          </a:xfrm>
          <a:prstGeom prst="rect">
            <a:avLst/>
          </a:prstGeom>
          <a:noFill/>
        </p:spPr>
        <p:txBody>
          <a:bodyPr wrap="square" anchor="t" lIns="19050" rIns="19050" tIns="6350" bIns="6350">
            <a:spAutoFit/>
          </a:bodyPr>
          <a:lstStyle/>
          <a:p>
            <a:pPr algn="r">
              <a:lnSpc>
                <a:spcPct val="100000"/>
              </a:lnSpc>
              <a:spcAft>
                <a:spcPts val="150"/>
              </a:spcAft>
            </a:pPr>
            <a:r>
              <a:rPr sz="750" b="0">
                <a:solidFill>
                  <a:srgbClr val="8A94A0"/>
                </a:solidFill>
                <a:latin typeface="Segoe UI"/>
              </a:rPr>
              <a:t>Round 1 · Executive summary</a:t>
            </a:r>
          </a:p>
          <a:p>
            <a:pPr algn="r">
              <a:lnSpc>
                <a:spcPct val="100000"/>
              </a:lnSpc>
              <a:spcAft>
                <a:spcPts val="150"/>
              </a:spcAft>
            </a:pPr>
            <a:r>
              <a:rPr sz="750" b="0">
                <a:solidFill>
                  <a:srgbClr val="8A94A0"/>
                </a:solidFill>
                <a:latin typeface="Segoe UI"/>
              </a:rPr>
              <a:t>Validation · financials · recommendations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292608" y="731520"/>
            <a:ext cx="11606479" cy="27940"/>
          </a:xfrm>
          <a:prstGeom prst="rect">
            <a:avLst/>
          </a:prstGeom>
          <a:solidFill>
            <a:srgbClr val="12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859536"/>
            <a:ext cx="5989320" cy="182880"/>
          </a:xfrm>
          <a:prstGeom prst="rect">
            <a:avLst/>
          </a:prstGeom>
          <a:noFill/>
        </p:spPr>
        <p:txBody>
          <a:bodyPr wrap="square" anchor="t" lIns="19050" rIns="19050" tIns="6350" bIns="635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B6DB0"/>
                </a:solidFill>
                <a:latin typeface="Segoe UI"/>
              </a:rPr>
              <a:t>THE MODEL, RUN ON JINDAL'S DISCLOSED REALITY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51560"/>
            <a:ext cx="5989320" cy="10160"/>
          </a:xfrm>
          <a:prstGeom prst="rect">
            <a:avLst/>
          </a:prstGeom>
          <a:solidFill>
            <a:srgbClr val="E2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92608" y="1133856"/>
          <a:ext cx="5989320" cy="17922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914400"/>
                <a:gridCol w="960120"/>
                <a:gridCol w="1280160"/>
                <a:gridCol w="1051560"/>
              </a:tblGrid>
              <a:tr h="256032">
                <a:tc>
                  <a:txBody>
                    <a:bodyPr wrap="square" lIns="50800" rIns="50800" tIns="12700" bIns="12700" anchor="ctr"/>
                    <a:lstStyle/>
                    <a:p>
                      <a:pPr algn="l"/>
                      <a:r>
                        <a:rPr sz="800" b="1">
                          <a:solidFill>
                            <a:srgbClr val="5B6570"/>
                          </a:solidFill>
                          <a:latin typeface="Segoe UI"/>
                        </a:rPr>
                        <a:t>Lever / result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tc>
                  <a:txBody>
                    <a:bodyPr wrap="square" lIns="50800" rIns="50800" tIns="12700" bIns="12700" anchor="ctr"/>
                    <a:lstStyle/>
                    <a:p>
                      <a:pPr algn="ctr"/>
                      <a:r>
                        <a:rPr sz="800" b="1">
                          <a:solidFill>
                            <a:srgbClr val="5B6570"/>
                          </a:solidFill>
                          <a:latin typeface="Segoe UI"/>
                        </a:rPr>
                        <a:t>FY24 (peak)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tc>
                  <a:txBody>
                    <a:bodyPr wrap="square" lIns="50800" rIns="50800" tIns="12700" bIns="12700" anchor="ctr"/>
                    <a:lstStyle/>
                    <a:p>
                      <a:pPr algn="ctr"/>
                      <a:r>
                        <a:rPr sz="800" b="1">
                          <a:solidFill>
                            <a:srgbClr val="5B6570"/>
                          </a:solidFill>
                          <a:latin typeface="Segoe UI"/>
                        </a:rPr>
                        <a:t>FY26 (actual)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tc>
                  <a:txBody>
                    <a:bodyPr wrap="square" lIns="50800" rIns="50800" tIns="12700" bIns="12700" anchor="ctr"/>
                    <a:lstStyle/>
                    <a:p>
                      <a:pPr algn="ctr"/>
                      <a:r>
                        <a:rPr sz="800" b="1">
                          <a:solidFill>
                            <a:srgbClr val="5B6570"/>
                          </a:solidFill>
                          <a:latin typeface="Segoe UI"/>
                        </a:rPr>
                        <a:t>FY28–30 (modelled)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tc>
                  <a:txBody>
                    <a:bodyPr wrap="square" lIns="50800" rIns="50800" tIns="12700" bIns="12700" anchor="ctr"/>
                    <a:lstStyle/>
                    <a:p>
                      <a:pPr algn="l"/>
                      <a:r>
                        <a:rPr sz="720" b="1">
                          <a:solidFill>
                            <a:srgbClr val="5B6570"/>
                          </a:solidFill>
                          <a:latin typeface="Segoe UI"/>
                        </a:rPr>
                        <a:t>Source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</a:tr>
              <a:tr h="256032">
                <a:tc>
                  <a:txBody>
                    <a:bodyPr wrap="square" lIns="50800" rIns="50800" tIns="12700" bIns="12700" anchor="ctr"/>
                    <a:lstStyle/>
                    <a:p>
                      <a:pPr algn="l"/>
                      <a:r>
                        <a:rPr sz="800" b="0">
                          <a:solidFill>
                            <a:srgbClr val="1F2937"/>
                          </a:solidFill>
                          <a:latin typeface="Segoe UI"/>
                        </a:rPr>
                        <a:t>Scrap charge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800" rIns="50800" tIns="12700" bIns="12700" anchor="ctr"/>
                    <a:lstStyle/>
                    <a:p>
                      <a:pPr algn="ctr"/>
                      <a:r>
                        <a:rPr sz="800" b="0">
                          <a:solidFill>
                            <a:srgbClr val="1F2937"/>
                          </a:solidFill>
                          <a:latin typeface="Segoe UI"/>
                        </a:rPr>
                        <a:t>~60%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800" rIns="50800" tIns="12700" bIns="12700" anchor="ctr"/>
                    <a:lstStyle/>
                    <a:p>
                      <a:pPr algn="ctr"/>
                      <a:r>
                        <a:rPr sz="800" b="0">
                          <a:solidFill>
                            <a:srgbClr val="1F2937"/>
                          </a:solidFill>
                          <a:latin typeface="Segoe UI"/>
                        </a:rPr>
                        <a:t>70.1%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800" rIns="50800" tIns="12700" bIns="12700" anchor="ctr"/>
                    <a:lstStyle/>
                    <a:p>
                      <a:pPr algn="ctr"/>
                      <a:r>
                        <a:rPr sz="800" b="0">
                          <a:solidFill>
                            <a:srgbClr val="1F2937"/>
                          </a:solidFill>
                          <a:latin typeface="Segoe UI"/>
                        </a:rPr>
                        <a:t>78% (cap 80%)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800" rIns="50800" tIns="12700" bIns="12700" anchor="ctr"/>
                    <a:lstStyle/>
                    <a:p>
                      <a:pPr algn="l"/>
                      <a:r>
                        <a:rPr sz="720" b="0">
                          <a:solidFill>
                            <a:srgbClr val="8A94A0"/>
                          </a:solidFill>
                          <a:latin typeface="Segoe UI"/>
                        </a:rPr>
                        <a:t>BRSR FY26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 lIns="50800" rIns="50800" tIns="12700" bIns="12700" anchor="ctr"/>
                    <a:lstStyle/>
                    <a:p>
                      <a:pPr algn="l"/>
                      <a:r>
                        <a:rPr sz="800" b="0">
                          <a:solidFill>
                            <a:srgbClr val="1F2937"/>
                          </a:solidFill>
                          <a:latin typeface="Segoe UI"/>
                        </a:rPr>
                        <a:t>Renewable electricity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800" rIns="50800" tIns="12700" bIns="12700" anchor="ctr"/>
                    <a:lstStyle/>
                    <a:p>
                      <a:pPr algn="ctr"/>
                      <a:r>
                        <a:rPr sz="800" b="0">
                          <a:solidFill>
                            <a:srgbClr val="1F2937"/>
                          </a:solidFill>
                          <a:latin typeface="Segoe UI"/>
                        </a:rPr>
                        <a:t>~30%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800" rIns="50800" tIns="12700" bIns="12700" anchor="ctr"/>
                    <a:lstStyle/>
                    <a:p>
                      <a:pPr algn="ctr"/>
                      <a:r>
                        <a:rPr sz="800" b="0">
                          <a:solidFill>
                            <a:srgbClr val="1F2937"/>
                          </a:solidFill>
                          <a:latin typeface="Segoe UI"/>
                        </a:rPr>
                        <a:t>47%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800" rIns="50800" tIns="12700" bIns="12700" anchor="ctr"/>
                    <a:lstStyle/>
                    <a:p>
                      <a:pPr algn="ctr"/>
                      <a:r>
                        <a:rPr sz="800" b="0">
                          <a:solidFill>
                            <a:srgbClr val="1F2937"/>
                          </a:solidFill>
                          <a:latin typeface="Segoe UI"/>
                        </a:rPr>
                        <a:t>65%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800" rIns="50800" tIns="12700" bIns="12700" anchor="ctr"/>
                    <a:lstStyle/>
                    <a:p>
                      <a:pPr algn="l"/>
                      <a:r>
                        <a:rPr sz="720" b="0">
                          <a:solidFill>
                            <a:srgbClr val="8A94A0"/>
                          </a:solidFill>
                          <a:latin typeface="Segoe UI"/>
                        </a:rPr>
                        <a:t>ESG Factsheet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 lIns="50800" rIns="50800" tIns="12700" bIns="12700" anchor="ctr"/>
                    <a:lstStyle/>
                    <a:p>
                      <a:pPr algn="l"/>
                      <a:r>
                        <a:rPr sz="800" b="0">
                          <a:solidFill>
                            <a:srgbClr val="1F2937"/>
                          </a:solidFill>
                          <a:latin typeface="Segoe UI"/>
                        </a:rPr>
                        <a:t>Green H₂ / Bio-LDO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800" rIns="50800" tIns="12700" bIns="12700" anchor="ctr"/>
                    <a:lstStyle/>
                    <a:p>
                      <a:pPr algn="ctr"/>
                      <a:r>
                        <a:rPr sz="800" b="0">
                          <a:solidFill>
                            <a:srgbClr val="1F2937"/>
                          </a:solidFill>
                          <a:latin typeface="Segoe UI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800" rIns="50800" tIns="12700" bIns="12700" anchor="ctr"/>
                    <a:lstStyle/>
                    <a:p>
                      <a:pPr algn="ctr"/>
                      <a:r>
                        <a:rPr sz="800" b="0">
                          <a:solidFill>
                            <a:srgbClr val="1F2937"/>
                          </a:solidFill>
                          <a:latin typeface="Segoe UI"/>
                        </a:rPr>
                        <a:t>pilot (Hisar)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800" rIns="50800" tIns="12700" bIns="12700" anchor="ctr"/>
                    <a:lstStyle/>
                    <a:p>
                      <a:pPr algn="ctr"/>
                      <a:r>
                        <a:rPr sz="800" b="0">
                          <a:solidFill>
                            <a:srgbClr val="1F2937"/>
                          </a:solidFill>
                          <a:latin typeface="Segoe UI"/>
                        </a:rPr>
                        <a:t>scaled (Jajpur)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800" rIns="50800" tIns="12700" bIns="12700" anchor="ctr"/>
                    <a:lstStyle/>
                    <a:p>
                      <a:pPr algn="l"/>
                      <a:r>
                        <a:rPr sz="720" b="0">
                          <a:solidFill>
                            <a:srgbClr val="8A94A0"/>
                          </a:solidFill>
                          <a:latin typeface="Segoe UI"/>
                        </a:rPr>
                        <a:t>company disclosures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 lIns="50800" rIns="50800" tIns="12700" bIns="12700" anchor="ctr"/>
                    <a:lstStyle/>
                    <a:p>
                      <a:pPr algn="l"/>
                      <a:r>
                        <a:rPr sz="800" b="1">
                          <a:solidFill>
                            <a:srgbClr val="1F2937"/>
                          </a:solidFill>
                          <a:latin typeface="Segoe UI"/>
                        </a:rPr>
                        <a:t>Scope 1+2 intensity (tCO₂e/t)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800" rIns="50800" tIns="12700" bIns="12700" anchor="ctr"/>
                    <a:lstStyle/>
                    <a:p>
                      <a:pPr algn="ctr"/>
                      <a:r>
                        <a:rPr sz="800" b="1">
                          <a:solidFill>
                            <a:srgbClr val="1F2937"/>
                          </a:solidFill>
                          <a:latin typeface="Segoe UI"/>
                        </a:rPr>
                        <a:t>2.15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800" rIns="50800" tIns="12700" bIns="12700" anchor="ctr"/>
                    <a:lstStyle/>
                    <a:p>
                      <a:pPr algn="ctr"/>
                      <a:r>
                        <a:rPr sz="800" b="1">
                          <a:solidFill>
                            <a:srgbClr val="1B6DB0"/>
                          </a:solidFill>
                          <a:latin typeface="Segoe UI"/>
                        </a:rPr>
                        <a:t>1.76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800" rIns="50800" tIns="12700" bIns="12700" anchor="ctr"/>
                    <a:lstStyle/>
                    <a:p>
                      <a:pPr algn="ctr"/>
                      <a:r>
                        <a:rPr sz="800" b="1">
                          <a:solidFill>
                            <a:srgbClr val="A8720E"/>
                          </a:solidFill>
                          <a:latin typeface="Segoe UI"/>
                        </a:rPr>
                        <a:t>1.35–1.45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800" rIns="50800" tIns="12700" bIns="12700" anchor="ctr"/>
                    <a:lstStyle/>
                    <a:p>
                      <a:pPr algn="l"/>
                      <a:r>
                        <a:rPr sz="720" b="0">
                          <a:solidFill>
                            <a:srgbClr val="8A94A0"/>
                          </a:solidFill>
                          <a:latin typeface="Segoe UI"/>
                        </a:rPr>
                        <a:t>ESG Factsheet / CDP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 lIns="50800" rIns="50800" tIns="12700" bIns="12700" anchor="ctr"/>
                    <a:lstStyle/>
                    <a:p>
                      <a:pPr algn="l"/>
                      <a:r>
                        <a:rPr sz="800" b="1">
                          <a:solidFill>
                            <a:srgbClr val="1F2937"/>
                          </a:solidFill>
                          <a:latin typeface="Segoe UI"/>
                        </a:rPr>
                        <a:t>Scope 3 intensity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800" rIns="50800" tIns="12700" bIns="12700" anchor="ctr"/>
                    <a:lstStyle/>
                    <a:p>
                      <a:pPr algn="ctr"/>
                      <a:r>
                        <a:rPr sz="800" b="1">
                          <a:solidFill>
                            <a:srgbClr val="1F2937"/>
                          </a:solidFill>
                          <a:latin typeface="Segoe UI"/>
                        </a:rPr>
                        <a:t>1.90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800" rIns="50800" tIns="12700" bIns="12700" anchor="ctr"/>
                    <a:lstStyle/>
                    <a:p>
                      <a:pPr algn="ctr"/>
                      <a:r>
                        <a:rPr sz="800" b="1">
                          <a:solidFill>
                            <a:srgbClr val="1B6DB0"/>
                          </a:solidFill>
                          <a:latin typeface="Segoe UI"/>
                        </a:rPr>
                        <a:t>1.27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800" rIns="50800" tIns="12700" bIns="12700" anchor="ctr"/>
                    <a:lstStyle/>
                    <a:p>
                      <a:pPr algn="ctr"/>
                      <a:r>
                        <a:rPr sz="800" b="1">
                          <a:solidFill>
                            <a:srgbClr val="A8720E"/>
                          </a:solidFill>
                          <a:latin typeface="Segoe UI"/>
                        </a:rPr>
                        <a:t>0.95–1.05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800" rIns="50800" tIns="12700" bIns="12700" anchor="ctr"/>
                    <a:lstStyle/>
                    <a:p>
                      <a:pPr algn="l"/>
                      <a:r>
                        <a:rPr sz="720" b="0">
                          <a:solidFill>
                            <a:srgbClr val="8A94A0"/>
                          </a:solidFill>
                          <a:latin typeface="Segoe UI"/>
                        </a:rPr>
                        <a:t>ESG Factsheet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 lIns="50800" rIns="50800" tIns="12700" bIns="12700" anchor="ctr"/>
                    <a:lstStyle/>
                    <a:p>
                      <a:pPr algn="l"/>
                      <a:r>
                        <a:rPr sz="800" b="1">
                          <a:solidFill>
                            <a:srgbClr val="1F2937"/>
                          </a:solidFill>
                          <a:latin typeface="Segoe UI"/>
                        </a:rPr>
                        <a:t>Cradle-to-gate 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800" rIns="50800" tIns="12700" bIns="12700" anchor="ctr"/>
                    <a:lstStyle/>
                    <a:p>
                      <a:pPr algn="ctr"/>
                      <a:r>
                        <a:rPr sz="800" b="1">
                          <a:solidFill>
                            <a:srgbClr val="1F2937"/>
                          </a:solidFill>
                          <a:latin typeface="Segoe UI"/>
                        </a:rPr>
                        <a:t>4.05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800" rIns="50800" tIns="12700" bIns="12700" anchor="ctr"/>
                    <a:lstStyle/>
                    <a:p>
                      <a:pPr algn="ctr"/>
                      <a:r>
                        <a:rPr sz="800" b="1">
                          <a:solidFill>
                            <a:srgbClr val="1B6DB0"/>
                          </a:solidFill>
                          <a:latin typeface="Segoe UI"/>
                        </a:rPr>
                        <a:t>3.03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800" rIns="50800" tIns="12700" bIns="12700" anchor="ctr"/>
                    <a:lstStyle/>
                    <a:p>
                      <a:pPr algn="ctr"/>
                      <a:r>
                        <a:rPr sz="800" b="1">
                          <a:solidFill>
                            <a:srgbClr val="A8720E"/>
                          </a:solidFill>
                          <a:latin typeface="Segoe UI"/>
                        </a:rPr>
                        <a:t>≈2.30–2.50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800" rIns="50800" tIns="12700" bIns="12700" anchor="ctr"/>
                    <a:lstStyle/>
                    <a:p>
                      <a:pPr algn="l"/>
                      <a:r>
                        <a:rPr sz="720" b="0">
                          <a:solidFill>
                            <a:srgbClr val="8A94A0"/>
                          </a:solidFill>
                          <a:latin typeface="Segoe UI"/>
                        </a:rPr>
                        <a:t>derived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292608" y="3182112"/>
            <a:ext cx="5989320" cy="274320"/>
          </a:xfrm>
          <a:prstGeom prst="rect">
            <a:avLst/>
          </a:prstGeom>
          <a:noFill/>
        </p:spPr>
        <p:txBody>
          <a:bodyPr wrap="square" anchor="t" lIns="19050" rIns="19050" tIns="6350" bIns="635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80" b="0">
                <a:solidFill>
                  <a:srgbClr val="1F2937"/>
                </a:solidFill>
                <a:latin typeface="Segoe UI"/>
              </a:rPr>
              <a:t>FY24→FY26 achieved: </a:t>
            </a:r>
            <a:r>
              <a:rPr sz="880" b="1">
                <a:solidFill>
                  <a:srgbClr val="1D7A4F"/>
                </a:solidFill>
                <a:latin typeface="Segoe UI"/>
              </a:rPr>
              <a:t>−25.2% total footprint (−18.1% Scope 1+2)</a:t>
            </a:r>
            <a:r>
              <a:rPr sz="880" b="0">
                <a:solidFill>
                  <a:srgbClr val="1F2937"/>
                </a:solidFill>
                <a:latin typeface="Segoe UI"/>
              </a:rPr>
              <a:t>; modelled path stays on the FY35 target glide of </a:t>
            </a:r>
            <a:r>
              <a:rPr sz="880" b="1">
                <a:solidFill>
                  <a:srgbClr val="123F63"/>
                </a:solidFill>
                <a:latin typeface="Segoe UI"/>
              </a:rPr>
              <a:t>0.99</a:t>
            </a:r>
            <a:r>
              <a:rPr sz="880" b="0">
                <a:solidFill>
                  <a:srgbClr val="1F2937"/>
                </a:solidFill>
                <a:latin typeface="Segoe UI"/>
              </a:rPr>
              <a:t> (−50% vs FY22 baseline).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511296"/>
            <a:ext cx="5989320" cy="274320"/>
          </a:xfrm>
          <a:prstGeom prst="rect">
            <a:avLst/>
          </a:prstGeom>
          <a:noFill/>
        </p:spPr>
        <p:txBody>
          <a:bodyPr wrap="square" anchor="t" lIns="19050" rIns="19050" tIns="6350" bIns="635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780" b="0" i="1">
                <a:solidFill>
                  <a:srgbClr val="8A94A0"/>
                </a:solidFill>
                <a:latin typeface="Segoe UI"/>
              </a:rPr>
              <a:t>Every modelled lever is one Jindal is already investing in (₹700 Cr solar, 300 MW hybrid, hydrogen scale-up); the tool ranks them by tCO₂ per rupee of effort.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3840480"/>
            <a:ext cx="5989320" cy="237744"/>
          </a:xfrm>
          <a:prstGeom prst="rect">
            <a:avLst/>
          </a:prstGeom>
          <a:noFill/>
        </p:spPr>
        <p:txBody>
          <a:bodyPr wrap="square" anchor="t" lIns="19050" rIns="19050" tIns="6350" bIns="635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00" b="0">
                <a:solidFill>
                  <a:srgbClr val="1D7A4F"/>
                </a:solidFill>
                <a:latin typeface="Segoe UI"/>
              </a:rPr>
              <a:t>▪ </a:t>
            </a:r>
            <a:r>
              <a:rPr sz="840" b="1">
                <a:solidFill>
                  <a:srgbClr val="123F63"/>
                </a:solidFill>
                <a:latin typeface="Segoe UI"/>
              </a:rPr>
              <a:t>Validation 1 — audited anchor: </a:t>
            </a:r>
            <a:r>
              <a:rPr sz="840" b="0">
                <a:solidFill>
                  <a:srgbClr val="1F2937"/>
                </a:solidFill>
                <a:latin typeface="Segoe UI"/>
              </a:rPr>
              <a:t>model returns 2.8–3.1 for FY26 inputs; the audited 3.03 falls inside.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" y="4082796"/>
            <a:ext cx="5989320" cy="237744"/>
          </a:xfrm>
          <a:prstGeom prst="rect">
            <a:avLst/>
          </a:prstGeom>
          <a:noFill/>
        </p:spPr>
        <p:txBody>
          <a:bodyPr wrap="square" anchor="t" lIns="19050" rIns="19050" tIns="6350" bIns="635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00" b="0">
                <a:solidFill>
                  <a:srgbClr val="1D7A4F"/>
                </a:solidFill>
                <a:latin typeface="Segoe UI"/>
              </a:rPr>
              <a:t>▪ </a:t>
            </a:r>
            <a:r>
              <a:rPr sz="840" b="1">
                <a:solidFill>
                  <a:srgbClr val="123F63"/>
                </a:solidFill>
                <a:latin typeface="Segoe UI"/>
              </a:rPr>
              <a:t>Validation 2 — industry curve: </a:t>
            </a:r>
            <a:r>
              <a:rPr sz="840" b="0">
                <a:solidFill>
                  <a:srgbClr val="1F2937"/>
                </a:solidFill>
                <a:latin typeface="Segoe UI"/>
              </a:rPr>
              <a:t>results track the worldstainless scrap curve (85% → 1.95; 50% → 3.70; 30% → 6.80).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" y="4325112"/>
            <a:ext cx="5989320" cy="237744"/>
          </a:xfrm>
          <a:prstGeom prst="rect">
            <a:avLst/>
          </a:prstGeom>
          <a:noFill/>
        </p:spPr>
        <p:txBody>
          <a:bodyPr wrap="square" anchor="t" lIns="19050" rIns="19050" tIns="6350" bIns="635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00" b="0">
                <a:solidFill>
                  <a:srgbClr val="1D7A4F"/>
                </a:solidFill>
                <a:latin typeface="Segoe UI"/>
              </a:rPr>
              <a:t>▪ </a:t>
            </a:r>
            <a:r>
              <a:rPr sz="840" b="1">
                <a:solidFill>
                  <a:srgbClr val="123F63"/>
                </a:solidFill>
                <a:latin typeface="Segoe UI"/>
              </a:rPr>
              <a:t>Validation 3 — grade physics: </a:t>
            </a:r>
            <a:r>
              <a:rPr sz="840" b="0">
                <a:solidFill>
                  <a:srgbClr val="1F2937"/>
                </a:solidFill>
                <a:latin typeface="Segoe UI"/>
              </a:rPr>
              <a:t>nickel-free 430 lands near half the 304 footprint, as metallurgy requires.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01968" y="859536"/>
            <a:ext cx="5297119" cy="182880"/>
          </a:xfrm>
          <a:prstGeom prst="rect">
            <a:avLst/>
          </a:prstGeom>
          <a:noFill/>
        </p:spPr>
        <p:txBody>
          <a:bodyPr wrap="square" anchor="t" lIns="19050" rIns="19050" tIns="6350" bIns="635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B6DB0"/>
                </a:solidFill>
                <a:latin typeface="Segoe UI"/>
              </a:rPr>
              <a:t>WHAT VERIFIED DATA IS WORTH AT THE EU BORDER (2030)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01968" y="1051560"/>
            <a:ext cx="5297119" cy="10160"/>
          </a:xfrm>
          <a:prstGeom prst="rect">
            <a:avLst/>
          </a:prstGeom>
          <a:solidFill>
            <a:srgbClr val="E2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1968" y="1133856"/>
            <a:ext cx="5297119" cy="164592"/>
          </a:xfrm>
          <a:prstGeom prst="rect">
            <a:avLst/>
          </a:prstGeom>
          <a:noFill/>
        </p:spPr>
        <p:txBody>
          <a:bodyPr wrap="square" anchor="t" lIns="19050" rIns="19050" tIns="6350" bIns="635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00" b="0">
                <a:solidFill>
                  <a:srgbClr val="1F2937"/>
                </a:solidFill>
                <a:latin typeface="Segoe UI"/>
              </a:rPr>
              <a:t>EU default assigned to India (8.44 tCO₂/t incl. markup)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01968" y="1289304"/>
            <a:ext cx="3337560" cy="118872"/>
          </a:xfrm>
          <a:prstGeom prst="rect">
            <a:avLst/>
          </a:prstGeom>
          <a:solidFill>
            <a:srgbClr val="B33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94392" y="1257300"/>
            <a:ext cx="914400" cy="182880"/>
          </a:xfrm>
          <a:prstGeom prst="rect">
            <a:avLst/>
          </a:prstGeom>
          <a:noFill/>
        </p:spPr>
        <p:txBody>
          <a:bodyPr wrap="square" anchor="t" lIns="19050" rIns="19050" tIns="6350" bIns="635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B3392F"/>
                </a:solidFill>
                <a:latin typeface="Segoe UI"/>
              </a:rPr>
              <a:t>€446/t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01968" y="1504188"/>
            <a:ext cx="5297119" cy="164592"/>
          </a:xfrm>
          <a:prstGeom prst="rect">
            <a:avLst/>
          </a:prstGeom>
          <a:noFill/>
        </p:spPr>
        <p:txBody>
          <a:bodyPr wrap="square" anchor="t" lIns="19050" rIns="19050" tIns="6350" bIns="635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00" b="0">
                <a:solidFill>
                  <a:srgbClr val="1F2937"/>
                </a:solidFill>
                <a:latin typeface="Segoe UI"/>
              </a:rPr>
              <a:t>India BF-BOF average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01968" y="1659636"/>
            <a:ext cx="946178" cy="118872"/>
          </a:xfrm>
          <a:prstGeom prst="rect">
            <a:avLst/>
          </a:prstGeom>
          <a:solidFill>
            <a:srgbClr val="7B87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03010" y="1627632"/>
            <a:ext cx="914400" cy="182880"/>
          </a:xfrm>
          <a:prstGeom prst="rect">
            <a:avLst/>
          </a:prstGeom>
          <a:noFill/>
        </p:spPr>
        <p:txBody>
          <a:bodyPr wrap="square" anchor="t" lIns="19050" rIns="19050" tIns="6350" bIns="635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7B8794"/>
                </a:solidFill>
                <a:latin typeface="Segoe UI"/>
              </a:rPr>
              <a:t>€107–122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01968" y="1874520"/>
            <a:ext cx="5297119" cy="164592"/>
          </a:xfrm>
          <a:prstGeom prst="rect">
            <a:avLst/>
          </a:prstGeom>
          <a:noFill/>
        </p:spPr>
        <p:txBody>
          <a:bodyPr wrap="square" anchor="t" lIns="19050" rIns="19050" tIns="6350" bIns="635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00" b="1">
                <a:solidFill>
                  <a:srgbClr val="1F2937"/>
                </a:solidFill>
                <a:latin typeface="Segoe UI"/>
              </a:rPr>
              <a:t>Jindal, verified — conservative basis (1.4 t)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01968" y="2029968"/>
            <a:ext cx="591899" cy="118872"/>
          </a:xfrm>
          <a:prstGeom prst="rect">
            <a:avLst/>
          </a:prstGeom>
          <a:solidFill>
            <a:srgbClr val="1B6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48731" y="1997964"/>
            <a:ext cx="914400" cy="182880"/>
          </a:xfrm>
          <a:prstGeom prst="rect">
            <a:avLst/>
          </a:prstGeom>
          <a:noFill/>
        </p:spPr>
        <p:txBody>
          <a:bodyPr wrap="square" anchor="t" lIns="19050" rIns="19050" tIns="6350" bIns="635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1B6DB0"/>
                </a:solidFill>
                <a:latin typeface="Segoe UI"/>
              </a:rPr>
              <a:t>€74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01968" y="2244852"/>
            <a:ext cx="5297119" cy="164592"/>
          </a:xfrm>
          <a:prstGeom prst="rect">
            <a:avLst/>
          </a:prstGeom>
          <a:noFill/>
        </p:spPr>
        <p:txBody>
          <a:bodyPr wrap="square" anchor="t" lIns="19050" rIns="19050" tIns="6350" bIns="635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00" b="1">
                <a:solidFill>
                  <a:srgbClr val="1F2937"/>
                </a:solidFill>
                <a:latin typeface="Segoe UI"/>
              </a:rPr>
              <a:t>Jindal, verified — CBAM-direct basis (0.9 t)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601968" y="2400300"/>
            <a:ext cx="399998" cy="118872"/>
          </a:xfrm>
          <a:prstGeom prst="rect">
            <a:avLst/>
          </a:prstGeom>
          <a:solidFill>
            <a:srgbClr val="1D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56830" y="2368296"/>
            <a:ext cx="914400" cy="182880"/>
          </a:xfrm>
          <a:prstGeom prst="rect">
            <a:avLst/>
          </a:prstGeom>
          <a:noFill/>
        </p:spPr>
        <p:txBody>
          <a:bodyPr wrap="square" anchor="t" lIns="19050" rIns="19050" tIns="6350" bIns="635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1D7A4F"/>
                </a:solidFill>
                <a:latin typeface="Segoe UI"/>
              </a:rPr>
              <a:t>€48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01968" y="2615184"/>
            <a:ext cx="5297119" cy="182880"/>
          </a:xfrm>
          <a:prstGeom prst="rect">
            <a:avLst/>
          </a:prstGeom>
          <a:noFill/>
        </p:spPr>
        <p:txBody>
          <a:bodyPr wrap="square" anchor="t" lIns="19050" rIns="19050" tIns="6350" bIns="635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720" b="0" i="1">
                <a:solidFill>
                  <a:srgbClr val="8A94A0"/>
                </a:solidFill>
                <a:latin typeface="Segoe UI"/>
              </a:rPr>
              <a:t>Mechanics: default 6.49 base + 30% no-data markup; phase-in 2.5%→48.5%; ETS €80→€109 (EU Regs 2025/2620-21).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01968" y="2852928"/>
            <a:ext cx="5297119" cy="10160"/>
          </a:xfrm>
          <a:prstGeom prst="rect">
            <a:avLst/>
          </a:prstGeom>
          <a:solidFill>
            <a:srgbClr val="E2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01968" y="2907792"/>
            <a:ext cx="5297119" cy="384048"/>
          </a:xfrm>
          <a:prstGeom prst="rect">
            <a:avLst/>
          </a:prstGeom>
          <a:noFill/>
        </p:spPr>
        <p:txBody>
          <a:bodyPr wrap="square" anchor="t" lIns="19050" rIns="19050" tIns="6350" bIns="635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100" b="1">
                <a:solidFill>
                  <a:srgbClr val="123F63"/>
                </a:solidFill>
                <a:latin typeface="Segoe UI"/>
              </a:rPr>
              <a:t>₹200–290 crore / year </a:t>
            </a:r>
            <a:r>
              <a:rPr sz="1100" b="1">
                <a:solidFill>
                  <a:srgbClr val="5B6570"/>
                </a:solidFill>
                <a:latin typeface="Segoe UI"/>
              </a:rPr>
              <a:t> (€22–32M)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01968" y="3310128"/>
            <a:ext cx="5297119" cy="457200"/>
          </a:xfrm>
          <a:prstGeom prst="rect">
            <a:avLst/>
          </a:prstGeom>
          <a:noFill/>
        </p:spPr>
        <p:txBody>
          <a:bodyPr wrap="square" anchor="t" lIns="19050" rIns="19050" tIns="6350" bIns="635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40" b="0">
                <a:solidFill>
                  <a:srgbClr val="5B6570"/>
                </a:solidFill>
                <a:latin typeface="Segoe UI"/>
              </a:rPr>
              <a:t>€372–398 saved per tonne × 60–80 kt/yr of EU exports, earned by filing verified plant data instead of accepting EU defaults. The calculator produces exactly this verified figure per tonne.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2608" y="4572000"/>
            <a:ext cx="5989320" cy="182880"/>
          </a:xfrm>
          <a:prstGeom prst="rect">
            <a:avLst/>
          </a:prstGeom>
          <a:noFill/>
        </p:spPr>
        <p:txBody>
          <a:bodyPr wrap="square" anchor="t" lIns="19050" rIns="19050" tIns="6350" bIns="635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B6DB0"/>
                </a:solidFill>
                <a:latin typeface="Segoe UI"/>
              </a:rPr>
              <a:t>INITIAL RECOMMENDATIONS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2608" y="4764024"/>
            <a:ext cx="5989320" cy="10160"/>
          </a:xfrm>
          <a:prstGeom prst="rect">
            <a:avLst/>
          </a:prstGeom>
          <a:solidFill>
            <a:srgbClr val="E2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2608" y="4846320"/>
            <a:ext cx="5989320" cy="329184"/>
          </a:xfrm>
          <a:prstGeom prst="rect">
            <a:avLst/>
          </a:prstGeom>
          <a:noFill/>
        </p:spPr>
        <p:txBody>
          <a:bodyPr wrap="square" anchor="t" lIns="19050" rIns="19050" tIns="6350" bIns="635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30" b="1">
                <a:solidFill>
                  <a:srgbClr val="1B6DB0"/>
                </a:solidFill>
                <a:latin typeface="Segoe UI"/>
              </a:rPr>
              <a:t>1.  </a:t>
            </a:r>
            <a:r>
              <a:rPr sz="830" b="1">
                <a:solidFill>
                  <a:srgbClr val="123F63"/>
                </a:solidFill>
                <a:latin typeface="Segoe UI"/>
              </a:rPr>
              <a:t>Operations: </a:t>
            </a:r>
            <a:r>
              <a:rPr sz="830" b="0">
                <a:solidFill>
                  <a:srgbClr val="5B6570"/>
                </a:solidFill>
                <a:latin typeface="Segoe UI"/>
              </a:rPr>
              <a:t>raise scrap 70→78% within the 80% tramp-element guardrail; deploy XRF/LIBS sensor sorting to secure clean feed.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2608" y="5170932"/>
            <a:ext cx="5989320" cy="329184"/>
          </a:xfrm>
          <a:prstGeom prst="rect">
            <a:avLst/>
          </a:prstGeom>
          <a:noFill/>
        </p:spPr>
        <p:txBody>
          <a:bodyPr wrap="square" anchor="t" lIns="19050" rIns="19050" tIns="6350" bIns="635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30" b="1">
                <a:solidFill>
                  <a:srgbClr val="1B6DB0"/>
                </a:solidFill>
                <a:latin typeface="Segoe UI"/>
              </a:rPr>
              <a:t>2.  </a:t>
            </a:r>
            <a:r>
              <a:rPr sz="830" b="1">
                <a:solidFill>
                  <a:srgbClr val="123F63"/>
                </a:solidFill>
                <a:latin typeface="Segoe UI"/>
              </a:rPr>
              <a:t>Operations: </a:t>
            </a:r>
            <a:r>
              <a:rPr sz="830" b="0">
                <a:solidFill>
                  <a:srgbClr val="5B6570"/>
                </a:solidFill>
                <a:latin typeface="Segoe UI"/>
              </a:rPr>
              <a:t>lift renewables 47→65% via the 300 MW hybrid; captive coal at 1.045 t/MWh is the second-largest lever.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2608" y="5495544"/>
            <a:ext cx="5989320" cy="329184"/>
          </a:xfrm>
          <a:prstGeom prst="rect">
            <a:avLst/>
          </a:prstGeom>
          <a:noFill/>
        </p:spPr>
        <p:txBody>
          <a:bodyPr wrap="square" anchor="t" lIns="19050" rIns="19050" tIns="6350" bIns="635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30" b="1">
                <a:solidFill>
                  <a:srgbClr val="1B6DB0"/>
                </a:solidFill>
                <a:latin typeface="Segoe UI"/>
              </a:rPr>
              <a:t>3.  </a:t>
            </a:r>
            <a:r>
              <a:rPr sz="830" b="1">
                <a:solidFill>
                  <a:srgbClr val="123F63"/>
                </a:solidFill>
                <a:latin typeface="Segoe UI"/>
              </a:rPr>
              <a:t>Finance: </a:t>
            </a:r>
            <a:r>
              <a:rPr sz="830" b="0">
                <a:solidFill>
                  <a:srgbClr val="5B6570"/>
                </a:solidFill>
                <a:latin typeface="Segoe UI"/>
              </a:rPr>
              <a:t>file verified MRV data with EU importers — a €372–398/t saving vs defaults; the tool generates the per-tonne statement.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92608" y="5820156"/>
            <a:ext cx="5989320" cy="329184"/>
          </a:xfrm>
          <a:prstGeom prst="rect">
            <a:avLst/>
          </a:prstGeom>
          <a:noFill/>
        </p:spPr>
        <p:txBody>
          <a:bodyPr wrap="square" anchor="t" lIns="19050" rIns="19050" tIns="6350" bIns="635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30" b="1">
                <a:solidFill>
                  <a:srgbClr val="1B6DB0"/>
                </a:solidFill>
                <a:latin typeface="Segoe UI"/>
              </a:rPr>
              <a:t>4.  </a:t>
            </a:r>
            <a:r>
              <a:rPr sz="830" b="1">
                <a:solidFill>
                  <a:srgbClr val="123F63"/>
                </a:solidFill>
                <a:latin typeface="Segoe UI"/>
              </a:rPr>
              <a:t>Sales: </a:t>
            </a:r>
            <a:r>
              <a:rPr sz="830" b="0">
                <a:solidFill>
                  <a:srgbClr val="5B6570"/>
                </a:solidFill>
                <a:latin typeface="Segoe UI"/>
              </a:rPr>
              <a:t>attach a carbon statement to every EU order; CPR GWP declarations are mandatory since Jan 2026 and the Digital Product Passport follows ~2028.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2608" y="6153912"/>
            <a:ext cx="5989320" cy="219456"/>
          </a:xfrm>
          <a:prstGeom prst="rect">
            <a:avLst/>
          </a:prstGeom>
          <a:noFill/>
        </p:spPr>
        <p:txBody>
          <a:bodyPr wrap="square" anchor="t" lIns="19050" rIns="19050" tIns="6350" bIns="635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40" b="1">
                <a:solidFill>
                  <a:srgbClr val="1D7A4F"/>
                </a:solidFill>
                <a:latin typeface="Segoe UI"/>
              </a:rPr>
              <a:t>Combined effect: Scope 1+2 falls to 1.35–1.45 by FY28-30 — on track for the FY35 −50% target.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01968" y="4572000"/>
            <a:ext cx="5297119" cy="182880"/>
          </a:xfrm>
          <a:prstGeom prst="rect">
            <a:avLst/>
          </a:prstGeom>
          <a:noFill/>
        </p:spPr>
        <p:txBody>
          <a:bodyPr wrap="square" anchor="t" lIns="19050" rIns="19050" tIns="6350" bIns="635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B6DB0"/>
                </a:solidFill>
                <a:latin typeface="Segoe UI"/>
              </a:rPr>
              <a:t>DEPLOYMENT ROADMAP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601968" y="4764024"/>
            <a:ext cx="5297119" cy="10160"/>
          </a:xfrm>
          <a:prstGeom prst="rect">
            <a:avLst/>
          </a:prstGeom>
          <a:solidFill>
            <a:srgbClr val="E2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0" name="Table 39"/>
          <p:cNvGraphicFramePr>
            <a:graphicFrameLocks noGrp="1"/>
          </p:cNvGraphicFramePr>
          <p:nvPr/>
        </p:nvGraphicFramePr>
        <p:xfrm>
          <a:off x="6601968" y="4846320"/>
          <a:ext cx="5297115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1720"/>
                <a:gridCol w="593079"/>
                <a:gridCol w="593079"/>
                <a:gridCol w="593079"/>
                <a:gridCol w="593079"/>
                <a:gridCol w="593079"/>
              </a:tblGrid>
              <a:tr h="201168">
                <a:tc>
                  <a:txBody>
                    <a:bodyPr wrap="square" lIns="50800" rIns="50800" tIns="12700" bIns="12700" anchor="ctr"/>
                    <a:lstStyle/>
                    <a:p>
                      <a:pPr algn="l"/>
                      <a:r>
                        <a:rPr sz="740" b="1">
                          <a:solidFill>
                            <a:srgbClr val="5B6570"/>
                          </a:solidFill>
                          <a:latin typeface="Segoe UI"/>
                        </a:rPr>
                        <a:t>Initiative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tc>
                  <a:txBody>
                    <a:bodyPr wrap="square" lIns="50800" rIns="50800" tIns="12700" bIns="12700" anchor="ctr"/>
                    <a:lstStyle/>
                    <a:p>
                      <a:pPr algn="ctr"/>
                      <a:r>
                        <a:rPr sz="740" b="1">
                          <a:solidFill>
                            <a:srgbClr val="5B6570"/>
                          </a:solidFill>
                          <a:latin typeface="Segoe UI"/>
                        </a:rPr>
                        <a:t>FY26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tc>
                  <a:txBody>
                    <a:bodyPr wrap="square" lIns="50800" rIns="50800" tIns="12700" bIns="12700" anchor="ctr"/>
                    <a:lstStyle/>
                    <a:p>
                      <a:pPr algn="ctr"/>
                      <a:r>
                        <a:rPr sz="740" b="1">
                          <a:solidFill>
                            <a:srgbClr val="5B6570"/>
                          </a:solidFill>
                          <a:latin typeface="Segoe UI"/>
                        </a:rPr>
                        <a:t>FY27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tc>
                  <a:txBody>
                    <a:bodyPr wrap="square" lIns="50800" rIns="50800" tIns="12700" bIns="12700" anchor="ctr"/>
                    <a:lstStyle/>
                    <a:p>
                      <a:pPr algn="ctr"/>
                      <a:r>
                        <a:rPr sz="740" b="1">
                          <a:solidFill>
                            <a:srgbClr val="5B6570"/>
                          </a:solidFill>
                          <a:latin typeface="Segoe UI"/>
                        </a:rPr>
                        <a:t>FY28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tc>
                  <a:txBody>
                    <a:bodyPr wrap="square" lIns="50800" rIns="50800" tIns="12700" bIns="12700" anchor="ctr"/>
                    <a:lstStyle/>
                    <a:p>
                      <a:pPr algn="ctr"/>
                      <a:r>
                        <a:rPr sz="740" b="1">
                          <a:solidFill>
                            <a:srgbClr val="5B6570"/>
                          </a:solidFill>
                          <a:latin typeface="Segoe UI"/>
                        </a:rPr>
                        <a:t>FY29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tc>
                  <a:txBody>
                    <a:bodyPr wrap="square" lIns="50800" rIns="50800" tIns="12700" bIns="12700" anchor="ctr"/>
                    <a:lstStyle/>
                    <a:p>
                      <a:pPr algn="ctr"/>
                      <a:r>
                        <a:rPr sz="740" b="1">
                          <a:solidFill>
                            <a:srgbClr val="5B6570"/>
                          </a:solidFill>
                          <a:latin typeface="Segoe UI"/>
                        </a:rPr>
                        <a:t>FY30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</a:tr>
              <a:tr h="201168">
                <a:tc>
                  <a:txBody>
                    <a:bodyPr wrap="square" lIns="50800" rIns="50800" tIns="12700" bIns="12700" anchor="ctr"/>
                    <a:lstStyle/>
                    <a:p>
                      <a:pPr algn="l"/>
                      <a:r>
                        <a:rPr sz="760" b="0">
                          <a:solidFill>
                            <a:srgbClr val="1F2937"/>
                          </a:solidFill>
                          <a:latin typeface="Segoe UI"/>
                        </a:rPr>
                        <a:t>Calculator live; verified CBAM filing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800" rIns="50800" tIns="12700" bIns="12700" anchor="ctr"/>
                    <a:lstStyle/>
                    <a:p>
                      <a:pPr algn="l"/>
                      <a:r>
                        <a:rPr sz="400" b="0">
                          <a:solidFill>
                            <a:srgbClr val="1F2937"/>
                          </a:solidFill>
                          <a:latin typeface="Segoe UI"/>
                        </a:rPr>
                        <a:t> </a:t>
                      </a:r>
                    </a:p>
                  </a:txBody>
                  <a:tcPr>
                    <a:solidFill>
                      <a:srgbClr val="1D7A4F"/>
                    </a:solidFill>
                  </a:tcPr>
                </a:tc>
                <a:tc>
                  <a:txBody>
                    <a:bodyPr wrap="square" lIns="50800" rIns="50800" tIns="12700" bIns="12700" anchor="ctr"/>
                    <a:lstStyle/>
                    <a:p>
                      <a:pPr algn="l"/>
                      <a:r>
                        <a:rPr sz="400" b="0">
                          <a:solidFill>
                            <a:srgbClr val="1F2937"/>
                          </a:solidFill>
                          <a:latin typeface="Segoe UI"/>
                        </a:rPr>
                        <a:t> </a:t>
                      </a:r>
                    </a:p>
                  </a:txBody>
                  <a:tcPr>
                    <a:solidFill>
                      <a:srgbClr val="1D7A4F"/>
                    </a:solidFill>
                  </a:tcPr>
                </a:tc>
                <a:tc>
                  <a:txBody>
                    <a:bodyPr wrap="square" lIns="50800" rIns="50800" tIns="12700" bIns="12700" anchor="ctr"/>
                    <a:lstStyle/>
                    <a:p>
                      <a:pPr algn="l"/>
                      <a:r>
                        <a:rPr sz="400" b="0">
                          <a:solidFill>
                            <a:srgbClr val="1F2937"/>
                          </a:solidFill>
                          <a:latin typeface="Segoe UI"/>
                        </a:rPr>
                        <a:t>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800" rIns="50800" tIns="12700" bIns="12700" anchor="ctr"/>
                    <a:lstStyle/>
                    <a:p>
                      <a:pPr algn="l"/>
                      <a:r>
                        <a:rPr sz="400" b="0">
                          <a:solidFill>
                            <a:srgbClr val="1F2937"/>
                          </a:solidFill>
                          <a:latin typeface="Segoe UI"/>
                        </a:rPr>
                        <a:t>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800" rIns="50800" tIns="12700" bIns="12700" anchor="ctr"/>
                    <a:lstStyle/>
                    <a:p>
                      <a:pPr algn="l"/>
                      <a:r>
                        <a:rPr sz="400" b="0">
                          <a:solidFill>
                            <a:srgbClr val="1F2937"/>
                          </a:solidFill>
                          <a:latin typeface="Segoe UI"/>
                        </a:rPr>
                        <a:t>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wrap="square" lIns="50800" rIns="50800" tIns="12700" bIns="12700" anchor="ctr"/>
                    <a:lstStyle/>
                    <a:p>
                      <a:pPr algn="l"/>
                      <a:r>
                        <a:rPr sz="760" b="0">
                          <a:solidFill>
                            <a:srgbClr val="1F2937"/>
                          </a:solidFill>
                          <a:latin typeface="Segoe UI"/>
                        </a:rPr>
                        <a:t>AI scrap sorting (raise the 80% ceiling)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800" rIns="50800" tIns="12700" bIns="12700" anchor="ctr"/>
                    <a:lstStyle/>
                    <a:p>
                      <a:pPr algn="l"/>
                      <a:r>
                        <a:rPr sz="400" b="0">
                          <a:solidFill>
                            <a:srgbClr val="1F2937"/>
                          </a:solidFill>
                          <a:latin typeface="Segoe UI"/>
                        </a:rPr>
                        <a:t>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800" rIns="50800" tIns="12700" bIns="12700" anchor="ctr"/>
                    <a:lstStyle/>
                    <a:p>
                      <a:pPr algn="l"/>
                      <a:r>
                        <a:rPr sz="400" b="0">
                          <a:solidFill>
                            <a:srgbClr val="1F2937"/>
                          </a:solidFill>
                          <a:latin typeface="Segoe UI"/>
                        </a:rPr>
                        <a:t> </a:t>
                      </a:r>
                    </a:p>
                  </a:txBody>
                  <a:tcPr>
                    <a:solidFill>
                      <a:srgbClr val="1B6DB0"/>
                    </a:solidFill>
                  </a:tcPr>
                </a:tc>
                <a:tc>
                  <a:txBody>
                    <a:bodyPr wrap="square" lIns="50800" rIns="50800" tIns="12700" bIns="12700" anchor="ctr"/>
                    <a:lstStyle/>
                    <a:p>
                      <a:pPr algn="l"/>
                      <a:r>
                        <a:rPr sz="400" b="0">
                          <a:solidFill>
                            <a:srgbClr val="1F2937"/>
                          </a:solidFill>
                          <a:latin typeface="Segoe UI"/>
                        </a:rPr>
                        <a:t> </a:t>
                      </a:r>
                    </a:p>
                  </a:txBody>
                  <a:tcPr>
                    <a:solidFill>
                      <a:srgbClr val="1B6DB0"/>
                    </a:solidFill>
                  </a:tcPr>
                </a:tc>
                <a:tc>
                  <a:txBody>
                    <a:bodyPr wrap="square" lIns="50800" rIns="50800" tIns="12700" bIns="12700" anchor="ctr"/>
                    <a:lstStyle/>
                    <a:p>
                      <a:pPr algn="l"/>
                      <a:r>
                        <a:rPr sz="400" b="0">
                          <a:solidFill>
                            <a:srgbClr val="1F2937"/>
                          </a:solidFill>
                          <a:latin typeface="Segoe UI"/>
                        </a:rPr>
                        <a:t>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800" rIns="50800" tIns="12700" bIns="12700" anchor="ctr"/>
                    <a:lstStyle/>
                    <a:p>
                      <a:pPr algn="l"/>
                      <a:r>
                        <a:rPr sz="400" b="0">
                          <a:solidFill>
                            <a:srgbClr val="1F2937"/>
                          </a:solidFill>
                          <a:latin typeface="Segoe UI"/>
                        </a:rPr>
                        <a:t>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wrap="square" lIns="50800" rIns="50800" tIns="12700" bIns="12700" anchor="ctr"/>
                    <a:lstStyle/>
                    <a:p>
                      <a:pPr algn="l"/>
                      <a:r>
                        <a:rPr sz="760" b="0">
                          <a:solidFill>
                            <a:srgbClr val="1F2937"/>
                          </a:solidFill>
                          <a:latin typeface="Segoe UI"/>
                        </a:rPr>
                        <a:t>Biochar in ferrochrome; slag to cement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800" rIns="50800" tIns="12700" bIns="12700" anchor="ctr"/>
                    <a:lstStyle/>
                    <a:p>
                      <a:pPr algn="l"/>
                      <a:r>
                        <a:rPr sz="400" b="0">
                          <a:solidFill>
                            <a:srgbClr val="1F2937"/>
                          </a:solidFill>
                          <a:latin typeface="Segoe UI"/>
                        </a:rPr>
                        <a:t>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800" rIns="50800" tIns="12700" bIns="12700" anchor="ctr"/>
                    <a:lstStyle/>
                    <a:p>
                      <a:pPr algn="l"/>
                      <a:r>
                        <a:rPr sz="400" b="0">
                          <a:solidFill>
                            <a:srgbClr val="1F2937"/>
                          </a:solidFill>
                          <a:latin typeface="Segoe UI"/>
                        </a:rPr>
                        <a:t>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800" rIns="50800" tIns="12700" bIns="12700" anchor="ctr"/>
                    <a:lstStyle/>
                    <a:p>
                      <a:pPr algn="l"/>
                      <a:r>
                        <a:rPr sz="400" b="0">
                          <a:solidFill>
                            <a:srgbClr val="1F2937"/>
                          </a:solidFill>
                          <a:latin typeface="Segoe UI"/>
                        </a:rPr>
                        <a:t> </a:t>
                      </a:r>
                    </a:p>
                  </a:txBody>
                  <a:tcPr>
                    <a:solidFill>
                      <a:srgbClr val="A8720E"/>
                    </a:solidFill>
                  </a:tcPr>
                </a:tc>
                <a:tc>
                  <a:txBody>
                    <a:bodyPr wrap="square" lIns="50800" rIns="50800" tIns="12700" bIns="12700" anchor="ctr"/>
                    <a:lstStyle/>
                    <a:p>
                      <a:pPr algn="l"/>
                      <a:r>
                        <a:rPr sz="400" b="0">
                          <a:solidFill>
                            <a:srgbClr val="1F2937"/>
                          </a:solidFill>
                          <a:latin typeface="Segoe UI"/>
                        </a:rPr>
                        <a:t> </a:t>
                      </a:r>
                    </a:p>
                  </a:txBody>
                  <a:tcPr>
                    <a:solidFill>
                      <a:srgbClr val="A8720E"/>
                    </a:solidFill>
                  </a:tcPr>
                </a:tc>
                <a:tc>
                  <a:txBody>
                    <a:bodyPr wrap="square" lIns="50800" rIns="50800" tIns="12700" bIns="12700" anchor="ctr"/>
                    <a:lstStyle/>
                    <a:p>
                      <a:pPr algn="l"/>
                      <a:r>
                        <a:rPr sz="400" b="0">
                          <a:solidFill>
                            <a:srgbClr val="1F2937"/>
                          </a:solidFill>
                          <a:latin typeface="Segoe UI"/>
                        </a:rPr>
                        <a:t>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wrap="square" lIns="50800" rIns="50800" tIns="12700" bIns="12700" anchor="ctr"/>
                    <a:lstStyle/>
                    <a:p>
                      <a:pPr algn="l"/>
                      <a:r>
                        <a:rPr sz="760" b="0">
                          <a:solidFill>
                            <a:srgbClr val="1F2937"/>
                          </a:solidFill>
                          <a:latin typeface="Segoe UI"/>
                        </a:rPr>
                        <a:t>Product passport per heat (EU DPP)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800" rIns="50800" tIns="12700" bIns="12700" anchor="ctr"/>
                    <a:lstStyle/>
                    <a:p>
                      <a:pPr algn="l"/>
                      <a:r>
                        <a:rPr sz="400" b="0">
                          <a:solidFill>
                            <a:srgbClr val="1F2937"/>
                          </a:solidFill>
                          <a:latin typeface="Segoe UI"/>
                        </a:rPr>
                        <a:t>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800" rIns="50800" tIns="12700" bIns="12700" anchor="ctr"/>
                    <a:lstStyle/>
                    <a:p>
                      <a:pPr algn="l"/>
                      <a:r>
                        <a:rPr sz="400" b="0">
                          <a:solidFill>
                            <a:srgbClr val="1F2937"/>
                          </a:solidFill>
                          <a:latin typeface="Segoe UI"/>
                        </a:rPr>
                        <a:t>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800" rIns="50800" tIns="12700" bIns="12700" anchor="ctr"/>
                    <a:lstStyle/>
                    <a:p>
                      <a:pPr algn="l"/>
                      <a:r>
                        <a:rPr sz="400" b="0">
                          <a:solidFill>
                            <a:srgbClr val="1F2937"/>
                          </a:solidFill>
                          <a:latin typeface="Segoe UI"/>
                        </a:rPr>
                        <a:t>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0800" rIns="50800" tIns="12700" bIns="12700" anchor="ctr"/>
                    <a:lstStyle/>
                    <a:p>
                      <a:pPr algn="l"/>
                      <a:r>
                        <a:rPr sz="400" b="0">
                          <a:solidFill>
                            <a:srgbClr val="1F2937"/>
                          </a:solidFill>
                          <a:latin typeface="Segoe UI"/>
                        </a:rPr>
                        <a:t> </a:t>
                      </a:r>
                    </a:p>
                  </a:txBody>
                  <a:tcPr>
                    <a:solidFill>
                      <a:srgbClr val="1B6DB0"/>
                    </a:solidFill>
                  </a:tcPr>
                </a:tc>
                <a:tc>
                  <a:txBody>
                    <a:bodyPr wrap="square" lIns="50800" rIns="50800" tIns="12700" bIns="12700" anchor="ctr"/>
                    <a:lstStyle/>
                    <a:p>
                      <a:pPr algn="l"/>
                      <a:r>
                        <a:rPr sz="400" b="0">
                          <a:solidFill>
                            <a:srgbClr val="1F2937"/>
                          </a:solidFill>
                          <a:latin typeface="Segoe UI"/>
                        </a:rPr>
                        <a:t> </a:t>
                      </a:r>
                    </a:p>
                  </a:txBody>
                  <a:tcPr>
                    <a:solidFill>
                      <a:srgbClr val="1B6DB0"/>
                    </a:solidFill>
                  </a:tcPr>
                </a:tc>
              </a:tr>
            </a:tbl>
          </a:graphicData>
        </a:graphic>
      </p:graphicFrame>
      <p:sp>
        <p:nvSpPr>
          <p:cNvPr id="41" name="TextBox 40"/>
          <p:cNvSpPr txBox="1"/>
          <p:nvPr/>
        </p:nvSpPr>
        <p:spPr>
          <a:xfrm>
            <a:off x="6601968" y="5925312"/>
            <a:ext cx="5297119" cy="182880"/>
          </a:xfrm>
          <a:prstGeom prst="rect">
            <a:avLst/>
          </a:prstGeom>
          <a:noFill/>
        </p:spPr>
        <p:txBody>
          <a:bodyPr wrap="square" anchor="t" lIns="19050" rIns="19050" tIns="6350" bIns="635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B6DB0"/>
                </a:solidFill>
                <a:latin typeface="Segoe UI"/>
              </a:rPr>
              <a:t>ASSUMPTIONS &amp; LIMITATIONS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601968" y="6117336"/>
            <a:ext cx="5297119" cy="10160"/>
          </a:xfrm>
          <a:prstGeom prst="rect">
            <a:avLst/>
          </a:prstGeom>
          <a:solidFill>
            <a:srgbClr val="E2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01968" y="6172200"/>
            <a:ext cx="5297119" cy="365760"/>
          </a:xfrm>
          <a:prstGeom prst="rect">
            <a:avLst/>
          </a:prstGeom>
          <a:noFill/>
        </p:spPr>
        <p:txBody>
          <a:bodyPr wrap="square" anchor="t" lIns="19050" rIns="19050" tIns="6350" bIns="635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740" b="0">
                <a:solidFill>
                  <a:srgbClr val="5B6570"/>
                </a:solidFill>
                <a:latin typeface="Segoe UI"/>
              </a:rPr>
              <a:t>Per tonne of crude steel; Scope 2 market-based; CBAM prices direct emissions only (conservative). FeMo ±30%; NPI 60–85 t/t; ETS path (€80→€109) is analyst consensus — savings scale with realised price.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92608" y="6382512"/>
            <a:ext cx="11606479" cy="10160"/>
          </a:xfrm>
          <a:prstGeom prst="rect">
            <a:avLst/>
          </a:prstGeom>
          <a:solidFill>
            <a:srgbClr val="E2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92608" y="6437376"/>
            <a:ext cx="11155680" cy="384048"/>
          </a:xfrm>
          <a:prstGeom prst="rect">
            <a:avLst/>
          </a:prstGeom>
          <a:noFill/>
        </p:spPr>
        <p:txBody>
          <a:bodyPr wrap="square" anchor="t" lIns="19050" rIns="19050" tIns="6350" bIns="635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700" b="0">
                <a:solidFill>
                  <a:srgbClr val="8A94A0"/>
                </a:solidFill>
                <a:latin typeface="Segoe UI"/>
              </a:rPr>
              <a:t>Source: JSL ESG Factsheets, BRSR, CDP FY22–26; EU Regulations 2023/956, 2025/2620-21, 2026/1740; CEA v21.0; worldstainless/ISSF; ICDA; Goldman Sachs, ICRA, CRISIL analyst reports; team analysis.  </a:t>
            </a:r>
            <a:r>
              <a:rPr sz="700" b="1">
                <a:solidFill>
                  <a:srgbClr val="5B6570"/>
                </a:solidFill>
                <a:latin typeface="Segoe UI"/>
              </a:rPr>
              <a:t>Live prototype: </a:t>
            </a:r>
            <a:r>
              <a:rPr sz="700" b="0">
                <a:solidFill>
                  <a:srgbClr val="1B6DB0"/>
                </a:solidFill>
                <a:latin typeface="Segoe UI"/>
                <a:hlinkClick r:id="rId2"/>
              </a:rPr>
              <a:t>ritehrks.github.io/jindal-steel-case-study/website</a:t>
            </a:r>
            <a:r>
              <a:rPr sz="700" b="0">
                <a:solidFill>
                  <a:srgbClr val="8A94A0"/>
                </a:solidFill>
                <a:latin typeface="Segoe UI"/>
              </a:rPr>
              <a:t>   ·   </a:t>
            </a:r>
            <a:r>
              <a:rPr sz="700" b="1">
                <a:solidFill>
                  <a:srgbClr val="5B6570"/>
                </a:solidFill>
                <a:latin typeface="Segoe UI"/>
              </a:rPr>
              <a:t>Research appendix: </a:t>
            </a:r>
            <a:r>
              <a:rPr sz="700" b="0">
                <a:solidFill>
                  <a:srgbClr val="1B6DB0"/>
                </a:solidFill>
                <a:latin typeface="Segoe UI"/>
                <a:hlinkClick r:id="rId3"/>
              </a:rPr>
              <a:t>ritehrks.github.io/jindal-steel-case-study/appendix.pdf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750040" y="6437376"/>
            <a:ext cx="320040" cy="201168"/>
          </a:xfrm>
          <a:prstGeom prst="rect">
            <a:avLst/>
          </a:prstGeom>
          <a:noFill/>
        </p:spPr>
        <p:txBody>
          <a:bodyPr wrap="square" anchor="t" lIns="19050" rIns="19050" tIns="6350" bIns="6350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800" b="0">
                <a:solidFill>
                  <a:srgbClr val="5B6570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